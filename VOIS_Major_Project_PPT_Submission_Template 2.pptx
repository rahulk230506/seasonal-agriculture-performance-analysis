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59" d="100"/>
          <a:sy n="59" d="100"/>
        </p:scale>
        <p:origin x="88" y="2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ahulK230506/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57852" y="2587630"/>
            <a:ext cx="10935459" cy="743448"/>
          </a:xfrm>
        </p:spPr>
        <p:txBody>
          <a:bodyPr>
            <a:normAutofit/>
          </a:bodyPr>
          <a:lstStyle/>
          <a:p>
            <a:r>
              <a:rPr lang="en-GB" sz="3200" dirty="0"/>
              <a:t>Project </a:t>
            </a:r>
            <a:r>
              <a:rPr lang="en-GB" sz="3200" dirty="0" smtClean="0"/>
              <a:t>Title: </a:t>
            </a:r>
            <a:r>
              <a:rPr lang="en-GB" dirty="0" smtClean="0"/>
              <a:t>Seasonal </a:t>
            </a:r>
            <a:r>
              <a:rPr lang="en-GB" dirty="0"/>
              <a:t>Agriculture Performance Analysis </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29921" y="4362751"/>
            <a:ext cx="3717872" cy="646331"/>
          </a:xfrm>
          <a:prstGeom prst="rect">
            <a:avLst/>
          </a:prstGeom>
          <a:noFill/>
        </p:spPr>
        <p:txBody>
          <a:bodyPr wrap="square" rtlCol="0">
            <a:spAutoFit/>
          </a:bodyPr>
          <a:lstStyle/>
          <a:p>
            <a:r>
              <a:rPr lang="en-US" b="1" dirty="0"/>
              <a:t>AICTE STU </a:t>
            </a:r>
            <a:r>
              <a:rPr lang="en-US" b="1" dirty="0" smtClean="0"/>
              <a:t>ID : -STU6a6b67834d87e1785423747 </a:t>
            </a:r>
            <a:endParaRPr lang="en-US" b="1" dirty="0"/>
          </a:p>
        </p:txBody>
      </p:sp>
      <p:sp>
        <p:nvSpPr>
          <p:cNvPr id="5" name="Text Placeholder 4"/>
          <p:cNvSpPr>
            <a:spLocks noGrp="1"/>
          </p:cNvSpPr>
          <p:nvPr>
            <p:ph type="body" sz="quarter" idx="11"/>
          </p:nvPr>
        </p:nvSpPr>
        <p:spPr>
          <a:xfrm>
            <a:off x="429921" y="3331078"/>
            <a:ext cx="9113356" cy="861497"/>
          </a:xfrm>
        </p:spPr>
        <p:txBody>
          <a:bodyPr>
            <a:normAutofit/>
          </a:bodyPr>
          <a:lstStyle/>
          <a:p>
            <a:r>
              <a:rPr lang="en-US" sz="1800" dirty="0" smtClean="0">
                <a:solidFill>
                  <a:schemeClr val="tx1"/>
                </a:solidFill>
              </a:rPr>
              <a:t>[ Student Name:- Rahul Anil </a:t>
            </a:r>
            <a:r>
              <a:rPr lang="en-US" sz="1800" dirty="0" err="1" smtClean="0">
                <a:solidFill>
                  <a:schemeClr val="tx1"/>
                </a:solidFill>
              </a:rPr>
              <a:t>Kamble</a:t>
            </a:r>
            <a:r>
              <a:rPr lang="en-US" sz="1800" dirty="0" smtClean="0">
                <a:solidFill>
                  <a:schemeClr val="tx1"/>
                </a:solidFill>
              </a:rPr>
              <a:t> </a:t>
            </a:r>
            <a:endParaRPr lang="en-US" sz="1800" dirty="0" smtClean="0">
              <a:solidFill>
                <a:schemeClr val="tx1"/>
              </a:solidFill>
            </a:endParaRPr>
          </a:p>
          <a:p>
            <a:r>
              <a:rPr lang="en-US" sz="1800" dirty="0" smtClean="0">
                <a:solidFill>
                  <a:schemeClr val="tx1"/>
                </a:solidFill>
              </a:rPr>
              <a:t>  College Name:- </a:t>
            </a:r>
            <a:r>
              <a:rPr lang="en-US" sz="1800" dirty="0" err="1" smtClean="0">
                <a:solidFill>
                  <a:schemeClr val="tx1"/>
                </a:solidFill>
              </a:rPr>
              <a:t>Hislop</a:t>
            </a:r>
            <a:r>
              <a:rPr lang="en-US" sz="1800" dirty="0" smtClean="0">
                <a:solidFill>
                  <a:schemeClr val="tx1"/>
                </a:solidFill>
              </a:rPr>
              <a:t> College</a:t>
            </a:r>
            <a:r>
              <a:rPr lang="en-US" sz="1800" dirty="0" smtClean="0">
                <a:solidFill>
                  <a:schemeClr val="tx1"/>
                </a:solidFill>
              </a:rPr>
              <a:t>, Civil Lines, Nagpur ]</a:t>
            </a:r>
            <a:endParaRPr lang="en-US" sz="180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102177"/>
            <a:ext cx="6801803" cy="4242062"/>
          </a:xfrm>
        </p:spPr>
        <p:txBody>
          <a:bodyPr vert="horz" lIns="91440" tIns="45720" rIns="91440" bIns="45720" rtlCol="0" anchor="t">
            <a:noAutofit/>
          </a:bodyPr>
          <a:lstStyle/>
          <a:p>
            <a:pPr>
              <a:lnSpc>
                <a:spcPct val="150000"/>
              </a:lnSpc>
            </a:pPr>
            <a:r>
              <a:rPr lang="en-IN" sz="1600" b="1" dirty="0" smtClean="0"/>
              <a:t>(</a:t>
            </a:r>
            <a:r>
              <a:rPr lang="en-US" sz="1600"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r>
              <a:rPr lang="en-US" sz="1600" b="1" dirty="0" smtClean="0"/>
              <a:t>)</a:t>
            </a:r>
            <a:endParaRPr lang="en-IN" sz="1600"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400" y="1395167"/>
            <a:ext cx="8219650" cy="4242062"/>
          </a:xfrm>
        </p:spPr>
        <p:txBody>
          <a:bodyPr>
            <a:normAutofit/>
          </a:bodyPr>
          <a:lstStyle/>
          <a:p>
            <a:r>
              <a:rPr lang="en-IN" sz="3200" dirty="0" smtClean="0"/>
              <a:t>Project </a:t>
            </a:r>
            <a:r>
              <a:rPr lang="en-IN" sz="3200" dirty="0" err="1" smtClean="0"/>
              <a:t>Descrption</a:t>
            </a:r>
            <a:r>
              <a:rPr lang="en-IN" sz="3200" dirty="0" smtClean="0"/>
              <a:t> :-</a:t>
            </a:r>
            <a:br>
              <a:rPr lang="en-IN" sz="3200" dirty="0" smtClean="0"/>
            </a:br>
            <a:r>
              <a:rPr lang="en-IN" sz="3200" dirty="0"/>
              <a:t/>
            </a:r>
            <a:br>
              <a:rPr lang="en-IN" sz="3200" dirty="0"/>
            </a:br>
            <a:r>
              <a:rPr lang="en-US" sz="1800" dirty="0" smtClean="0"/>
              <a:t>This </a:t>
            </a:r>
            <a:r>
              <a:rPr lang="en-US" sz="1800" dirty="0"/>
              <a:t>project analyzes a seasonal agriculture dataset to understand how farming performance varies across seasons, regions, and conditions. It covers data cleaning, exploratory analysis, and visualization to uncover seasonal trends in crop yield, resource usage, and economic outcomes.</a:t>
            </a:r>
            <a:br>
              <a:rPr lang="en-US" sz="1800" dirty="0"/>
            </a:br>
            <a:r>
              <a:rPr lang="en-US" sz="1800" dirty="0"/>
              <a:t>Statistical techniques are used to compare performance across seasons and identify significant patterns or relationships. The analysis is documented in a </a:t>
            </a:r>
            <a:r>
              <a:rPr lang="en-US" sz="1800" dirty="0" err="1"/>
              <a:t>Jupyter</a:t>
            </a:r>
            <a:r>
              <a:rPr lang="en-US" sz="1800" dirty="0"/>
              <a:t> Notebook, using Python libraries like Pandas, </a:t>
            </a:r>
            <a:r>
              <a:rPr lang="en-US" sz="1800" dirty="0" err="1"/>
              <a:t>Matplotlib</a:t>
            </a:r>
            <a:r>
              <a:rPr lang="en-US" sz="1800" dirty="0"/>
              <a:t>, and </a:t>
            </a:r>
            <a:r>
              <a:rPr lang="en-US" sz="1800" dirty="0" err="1"/>
              <a:t>Seaborn</a:t>
            </a:r>
            <a:r>
              <a:rPr lang="en-US" sz="1800" dirty="0"/>
              <a:t>.</a:t>
            </a:r>
            <a:br>
              <a:rPr lang="en-US" sz="1800" dirty="0"/>
            </a:br>
            <a:r>
              <a:rPr lang="en-US" sz="1800" dirty="0"/>
              <a:t>The project concludes with evidence-based insights and recommendations to support better seasonal agricultural planning.</a:t>
            </a: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60775"/>
            <a:ext cx="7904481" cy="3846136"/>
          </a:xfrm>
        </p:spPr>
        <p:txBody>
          <a:bodyPr>
            <a:normAutofit lnSpcReduction="10000"/>
          </a:bodyPr>
          <a:lstStyle/>
          <a:p>
            <a:r>
              <a:rPr lang="en-US" b="1" dirty="0"/>
              <a:t>Farmers</a:t>
            </a:r>
            <a:r>
              <a:rPr lang="en-US" dirty="0"/>
              <a:t> – </a:t>
            </a:r>
            <a:r>
              <a:rPr lang="en-US" dirty="0" smtClean="0"/>
              <a:t>To </a:t>
            </a:r>
            <a:r>
              <a:rPr lang="en-US" dirty="0"/>
              <a:t>plan crops and resources based on seasonal trends</a:t>
            </a:r>
          </a:p>
          <a:p>
            <a:r>
              <a:rPr lang="en-US" b="1" dirty="0"/>
              <a:t>Agricultural policymakers/government bodies</a:t>
            </a:r>
            <a:r>
              <a:rPr lang="en-US" dirty="0"/>
              <a:t> – </a:t>
            </a:r>
            <a:r>
              <a:rPr lang="en-US" dirty="0" smtClean="0"/>
              <a:t>To </a:t>
            </a:r>
            <a:r>
              <a:rPr lang="en-US" dirty="0"/>
              <a:t>design season-specific support schemes and policies</a:t>
            </a:r>
          </a:p>
          <a:p>
            <a:r>
              <a:rPr lang="en-US" b="1" dirty="0"/>
              <a:t>Agribusiness companies</a:t>
            </a:r>
            <a:r>
              <a:rPr lang="en-US" dirty="0"/>
              <a:t> – </a:t>
            </a:r>
            <a:r>
              <a:rPr lang="en-US" dirty="0" smtClean="0"/>
              <a:t>To </a:t>
            </a:r>
            <a:r>
              <a:rPr lang="en-US" dirty="0"/>
              <a:t>plan supply chain, pricing, and resource distribution</a:t>
            </a:r>
          </a:p>
          <a:p>
            <a:r>
              <a:rPr lang="en-US" b="1" dirty="0"/>
              <a:t>Researchers/Agricultural scientists</a:t>
            </a:r>
            <a:r>
              <a:rPr lang="en-US" dirty="0"/>
              <a:t> – </a:t>
            </a:r>
            <a:r>
              <a:rPr lang="en-US" dirty="0" smtClean="0"/>
              <a:t>To </a:t>
            </a:r>
            <a:r>
              <a:rPr lang="en-US" dirty="0"/>
              <a:t>study seasonal impact on crop performance</a:t>
            </a:r>
          </a:p>
          <a:p>
            <a:r>
              <a:rPr lang="en-US" b="1" dirty="0"/>
              <a:t>Financial institutions/banks providing </a:t>
            </a:r>
            <a:r>
              <a:rPr lang="en-US" b="1" dirty="0" err="1"/>
              <a:t>agri</a:t>
            </a:r>
            <a:r>
              <a:rPr lang="en-US" b="1" dirty="0"/>
              <a:t>-loans</a:t>
            </a:r>
            <a:r>
              <a:rPr lang="en-US" dirty="0"/>
              <a:t> – </a:t>
            </a:r>
            <a:r>
              <a:rPr lang="en-US" dirty="0" smtClean="0"/>
              <a:t>To </a:t>
            </a:r>
            <a:r>
              <a:rPr lang="en-US" dirty="0"/>
              <a:t>assess seasonal risk before lending</a:t>
            </a:r>
          </a:p>
          <a:p>
            <a:r>
              <a:rPr lang="en-US" b="1" dirty="0"/>
              <a:t>NGOs working in rural development</a:t>
            </a:r>
            <a:r>
              <a:rPr lang="en-US" dirty="0"/>
              <a:t> – </a:t>
            </a:r>
            <a:r>
              <a:rPr lang="en-US" dirty="0" smtClean="0"/>
              <a:t>To </a:t>
            </a:r>
            <a:r>
              <a:rPr lang="en-US" dirty="0"/>
              <a:t>plan seasonal support programs for farmers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p:cNvSpPr>
            <a:spLocks noGrp="1" noChangeArrowheads="1"/>
          </p:cNvSpPr>
          <p:nvPr>
            <p:ph type="body" sz="quarter" idx="12"/>
          </p:nvPr>
        </p:nvSpPr>
        <p:spPr bwMode="auto">
          <a:xfrm>
            <a:off x="467359" y="1647847"/>
            <a:ext cx="892315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Google </a:t>
            </a:r>
            <a:r>
              <a:rPr kumimoji="0" lang="en-US" altLang="en-US" sz="1800" b="1" i="0" u="none" strike="noStrike" cap="none" normalizeH="0" baseline="0" dirty="0" err="1" smtClean="0">
                <a:ln>
                  <a:noFill/>
                </a:ln>
                <a:solidFill>
                  <a:schemeClr val="tx1"/>
                </a:solidFill>
                <a:effectLst/>
                <a:latin typeface="Arial" panose="020B0604020202020204" pitchFamily="34" charset="0"/>
              </a:rPr>
              <a:t>Colab</a:t>
            </a:r>
            <a:r>
              <a:rPr kumimoji="0" lang="en-US" altLang="en-US" sz="1800" b="0" i="0" u="none" strike="noStrike" cap="none" normalizeH="0" baseline="0" dirty="0" smtClean="0">
                <a:ln>
                  <a:noFill/>
                </a:ln>
                <a:solidFill>
                  <a:schemeClr val="tx1"/>
                </a:solidFill>
                <a:effectLst/>
                <a:latin typeface="Arial" panose="020B0604020202020204" pitchFamily="34" charset="0"/>
              </a:rPr>
              <a:t> – Cloud-based </a:t>
            </a:r>
            <a:r>
              <a:rPr kumimoji="0" lang="en-US" altLang="en-US" sz="1800" b="0" i="0" u="none" strike="noStrike" cap="none" normalizeH="0" baseline="0" dirty="0" err="1" smtClean="0">
                <a:ln>
                  <a:noFill/>
                </a:ln>
                <a:solidFill>
                  <a:schemeClr val="tx1"/>
                </a:solidFill>
                <a:effectLst/>
                <a:latin typeface="Arial" panose="020B0604020202020204" pitchFamily="34" charset="0"/>
              </a:rPr>
              <a:t>Jupyter</a:t>
            </a:r>
            <a:r>
              <a:rPr kumimoji="0" lang="en-US" altLang="en-US" sz="1800" b="0" i="0" u="none" strike="noStrike" cap="none" normalizeH="0" baseline="0" dirty="0" smtClean="0">
                <a:ln>
                  <a:noFill/>
                </a:ln>
                <a:solidFill>
                  <a:schemeClr val="tx1"/>
                </a:solidFill>
                <a:effectLst/>
                <a:latin typeface="Arial" panose="020B0604020202020204" pitchFamily="34" charset="0"/>
              </a:rPr>
              <a:t> Notebook environment used for writing and running the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Python</a:t>
            </a:r>
            <a:r>
              <a:rPr kumimoji="0" lang="en-US" altLang="en-US" sz="1800" b="0" i="0" u="none" strike="noStrike" cap="none" normalizeH="0" baseline="0" dirty="0" smtClean="0">
                <a:ln>
                  <a:noFill/>
                </a:ln>
                <a:solidFill>
                  <a:schemeClr val="tx1"/>
                </a:solidFill>
                <a:effectLst/>
                <a:latin typeface="Arial" panose="020B0604020202020204" pitchFamily="34" charset="0"/>
              </a:rPr>
              <a:t> – Primary programming language used for data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Pandas</a:t>
            </a:r>
            <a:r>
              <a:rPr kumimoji="0" lang="en-US" altLang="en-US" sz="1800" b="0" i="0" u="none" strike="noStrike" cap="none" normalizeH="0" baseline="0" dirty="0" smtClean="0">
                <a:ln>
                  <a:noFill/>
                </a:ln>
                <a:solidFill>
                  <a:schemeClr val="tx1"/>
                </a:solidFill>
                <a:effectLst/>
                <a:latin typeface="Arial" panose="020B0604020202020204" pitchFamily="34" charset="0"/>
              </a:rPr>
              <a:t> – For data cleaning and manipulation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NumPy</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lang="en-US" altLang="en-US" sz="1800" dirty="0" smtClean="0">
                <a:solidFill>
                  <a:schemeClr val="tx1"/>
                </a:solidFill>
                <a:latin typeface="Arial" panose="020B0604020202020204" pitchFamily="34" charset="0"/>
              </a:rPr>
              <a:t>Fo</a:t>
            </a:r>
            <a:r>
              <a:rPr kumimoji="0" lang="en-US" altLang="en-US" sz="1800" b="0" i="0" u="none" strike="noStrike" cap="none" normalizeH="0" baseline="0" dirty="0" smtClean="0">
                <a:ln>
                  <a:noFill/>
                </a:ln>
                <a:solidFill>
                  <a:schemeClr val="tx1"/>
                </a:solidFill>
                <a:effectLst/>
                <a:latin typeface="Arial" panose="020B0604020202020204" pitchFamily="34" charset="0"/>
              </a:rPr>
              <a:t>r numerical computations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Matplotlib</a:t>
            </a:r>
            <a:r>
              <a:rPr kumimoji="0" lang="en-US" altLang="en-US" sz="1800" b="1" i="0" u="none" strike="noStrike" cap="none" normalizeH="0" baseline="0" dirty="0" smtClean="0">
                <a:ln>
                  <a:noFill/>
                </a:ln>
                <a:solidFill>
                  <a:schemeClr val="tx1"/>
                </a:solidFill>
                <a:effectLst/>
                <a:latin typeface="Arial" panose="020B0604020202020204" pitchFamily="34" charset="0"/>
              </a:rPr>
              <a:t> / </a:t>
            </a:r>
            <a:r>
              <a:rPr kumimoji="0" lang="en-US" altLang="en-US" sz="1800" b="1" i="0" u="none" strike="noStrike" cap="none" normalizeH="0" baseline="0" dirty="0" err="1" smtClean="0">
                <a:ln>
                  <a:noFill/>
                </a:ln>
                <a:solidFill>
                  <a:schemeClr val="tx1"/>
                </a:solidFill>
                <a:effectLst/>
                <a:latin typeface="Arial" panose="020B0604020202020204" pitchFamily="34" charset="0"/>
              </a:rPr>
              <a:t>Seaborn</a:t>
            </a:r>
            <a:r>
              <a:rPr kumimoji="0" lang="en-US" altLang="en-US" sz="1800" b="0" i="0" u="none" strike="noStrike" cap="none" normalizeH="0" baseline="0" dirty="0" smtClean="0">
                <a:ln>
                  <a:noFill/>
                </a:ln>
                <a:solidFill>
                  <a:schemeClr val="tx1"/>
                </a:solidFill>
                <a:effectLst/>
                <a:latin typeface="Arial" panose="020B0604020202020204" pitchFamily="34" charset="0"/>
              </a:rPr>
              <a:t> – For data visualization (charts, graphs, plots)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723899" y="809689"/>
            <a:ext cx="4093667" cy="1311211"/>
          </a:xfrm>
        </p:spPr>
        <p:txBody>
          <a:bodyPr>
            <a:normAutofit fontScale="90000"/>
          </a:bodyPr>
          <a:lstStyle/>
          <a:p>
            <a:r>
              <a:rPr lang="en-GB" dirty="0" smtClean="0"/>
              <a:t>RESULTS</a:t>
            </a:r>
            <a:br>
              <a:rPr lang="en-GB" dirty="0" smtClean="0"/>
            </a:br>
            <a:r>
              <a:rPr lang="en-GB" sz="2200" dirty="0" smtClean="0"/>
              <a:t>Distribution of Crop Yield</a:t>
            </a:r>
            <a:r>
              <a:rPr lang="en-GB" dirty="0" smtClean="0"/>
              <a:t/>
            </a:r>
            <a:br>
              <a:rPr lang="en-GB" dirty="0" smtClean="0"/>
            </a:br>
            <a:r>
              <a:rPr lang="en-GB" dirty="0" smtClean="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4817567" y="195912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AutoShape 2" descr="data:image/png;base64,iVBORw0KGgoAAAANSUhEUgAAAqYAAAHWCAYAAAClsUvDAAAAOnRFWHRTb2Z0d2FyZQBNYXRwbG90bGliIHZlcnNpb24zLjEwLjAsIGh0dHBzOi8vbWF0cGxvdGxpYi5vcmcvlHJYcgAAAAlwSFlzAAAPYQAAD2EBqD+naQAAQI9JREFUeJzt3Xd0FNX///HXkoRUCDUkSKihNz90kKpIKNI+FEU6CChVAeUb/CCChaI0AQEBRTHSURGl96LSkS69d4EkEBJI7u8PD/tzTdRsTNiBfT7O2XOYO3dm3ruy5OWdOzc2Y4wRAAAA4GIZXF0AAAAAIBFMAQAAYBEEUwAAAFgCwRQAAACWQDAFAACAJRBMAQAAYAkEUwAAAFgCwRQAAACWQDAFAACAJRBMASCNzJo1SzabTadOnXL62Lfffls2my1FfW02m95+++2/7bN+/XrZbDYtXLjQ6VoAwFUIpgDsPv74Y9lsNlWuXNnVpVjGjz/+qAwZMigiIiLZ/aNGjZLNZtP333//kCuzjs2bN6tBgwZ64okn5OPjo7x586px48b66quvXF0agEcMwRSAXWRkpPLnz69t27bp2LFjri7HEqpWraoePXpozJgxOnDggMO+06dPa/jw4WrVqpUaNWqk9u3bKzY2Vvny5XNRtQ/fggULVLNmTV2+fFn9+vXTxIkT1a5dO924cUPTp093dXkAHjGeri4AgDWcPHlSW7du1eLFi9WjRw9FRkZq6NChD7WGxMRExcfHy8fH56Fe95+MHDlS3377rXr06KFNmzbZb7n36dNHXl5emjBhgiTJw8NDHh4eriz1oXv77bdVokQJ/fTTT8qYMaPDvitXrrioKgCPKkZMAUj6fbQ0a9asatSokVq2bKnIyEj7vnv37ilbtmzq3LlzkuOioqLk4+OjgQMH2tvi4uI0dOhQhYWFydvbW6GhoXrjjTcUFxfncKzNZlPv3r0VGRmpkiVLytvbW8uXL5ckffjhh6pWrZqyZ88uX19flS9fPtn5krGxserbt69y5MihTJkyqUmTJjp//nyy8zDPnz+vLl26KFeuXPL29lbJkiX16aef/uNnExgYqAkTJmjLli2aMWOGJOnrr7/Wd999p5EjRyokJETSX88xXbZsmWrUqCF/f39lypRJjRo1SjL6mpy4uDi99tprypkzp/29nTt37h+P+6OEhAQNHjxYwcHB8vf3V5MmTXT27Fn7/qFDh8rLy0tXr15Ncmz37t2VJUsW3b179y/Pf/z4cVWsWDFJKJWkoKAgh+3ExESNHz9eJUuWlI+Pj3LlyqUePXroxo0bDv2+/fZbNWrUSLlz55a3t7cKFSqkd955RwkJCQ79jh49qhYtWig4OFg+Pj7KkyePXnjhBd26dcve5/79+3rnnXdUqFAheXt7K3/+/Bo8eHCSv4v58+fXc889p82bN6tSpUry8fFRwYIF9cUXX/zleweQDgwAGGOKFStmunbtaowxZuPGjUaS2bZtm31/ly5dTJYsWUxcXJzDcZ9//rmRZLZv326MMSYhIcHUq1fP+Pn5mVdffdVMmzbN9O7d23h6epqmTZs6HCvJFC9e3OTMmdMMGzbMTJ482ezevdsYY0yePHlMz549zaRJk8zYsWNNpUqVjCSzdOlSh3O0bt3aSDLt27c3kydPNq1btzZly5Y1kszQoUPt/S5dumTy5MljQkNDzfDhw82UKVNMkyZNjCQzbty4FH1GjRo1MlmzZjXHjx83oaGhplq1aiYxMdG+/7PPPjOSzMmTJ+1tX3zxhbHZbKZ+/fpm4sSJZtSoUSZ//vwmS5YsDv2GDh1q/vxPcrt27Ywk8+KLL5pJkyaZ//73v6ZMmTJJ3lty1q1bZySZ0qVLmzJlypixY8ea//u//zM+Pj6mSJEi5s6dO8YYY44ePWokmYkTJzocHxcXZ7JmzWq6dOnyt9cpUqSICQ0NNWfPnv3bfsYY89JLLxlPT0/TrVs3M3XqVDNo0CDj7+9vKlasaOLj4+39mjVrZlq3bm0++OADM2XKFNOqVSsjyQwcONChvgIFCpjcuXObd99918yYMcMMGzbMVKxY0Zw6dcrer2PHjkaSadmypZk8ebLp0KGDkWSaNWvmUFu+fPlM0aJFTa5cuczgwYPNpEmTTLly5YzNZjP79+//x/cGIG0QTAGYHTt2GElm1apVxhhjEhMTTZ48eUy/fv3sfVasWGEkme+++87h2IYNG5qCBQvat2fPnm0yZMhgNm3a5NBv6tSpRpLZsmWLvU2SyZAhgzlw4ECSmh4Epwfi4+NNqVKlzNNPP21v27lzp5FkXn31VYe+nTp1ShLeunbtakJCQsy1a9cc+r7wwgsmMDAwyfWSc+rUKePv72+yZctmvLy8zL59+xz2/zmYRkdHmyxZsphu3bo59Lt06ZIJDAx0aP9zMN2zZ4+RZHr27Olw7IsvvuhUMH3iiSdMVFSUvX3+/PlGkpkwYYK9rWrVqqZy5coOxy9evNhIMuvWrfvb68ycOdNIMhkzZjR16tQxQ4YMMZs2bTIJCQkO/TZt2mQkmcjISIf25cuXJ2lP7r9Fjx49jJ+fn7l7964xxpjdu3cbSWbBggV/WduDz/Cll15yaB84cKCRZNauXWtvy5cvn5FkNm7caG+7cuWK8fb2NgMGDPjbzwBA2uFWPgBFRkYqV65cqlOnjqTfb7E///zzmjt3rv326dNPP60cOXJo3rx59uNu3LihVatW6fnnn7e3LViwQMWLF1exYsV07do1++vpp5+WJK1bt87h2rVq1VKJEiWS1OTr6+twnVu3bqlGjRratWuXvf3Bbf+ePXs6HNunTx+HbWOMFi1apMaNG8sY41BXeHi4bt265XDev5IvXz4NHTpUv/32m/r3769SpUr9bf9Vq1bp5s2batOmjcM1PTw8VLly5SSfxR/98MMPkqS+ffs6tL/66qv/WOcfdejQQZkyZbJvt2zZUiEhIfbzP+jz888/6/jx4/a2yMhIhYaGqlatWn97/i5dumj58uWqXbu2Nm/erHfeeUc1atRQ4cKFtXXrVnu/BQsWKDAwUM8++6zDZ1G+fHkFBAQ4fBZ//G8fHR2ta9euqUaNGrpz544OHz4s6ffpFZK0YsUK3blzJ9naHrzH/v37O7QPGDBAkpKspFCiRAnVqFHDvp0zZ04VLVpUJ06c+NvPAEDaIZgCbi4hIUFz585VnTp1dPLkSR07dkzHjh1T5cqVdfnyZa1Zs0aS5OnpqRYtWujbb7+1z89bvHix7t275xBMjx49qgMHDihnzpwOryJFikhK+kBMgQIFkq1r6dKlqlKlinx8fJQtWzblzJlTU6ZMcZg/ePr0aWXIkCHJOcLCwhy2r169qps3b+qTTz5JUteDebMpfVCnYsWKkqQKFSr8Y9+jR49K+j3U//m6K1eu/NtrPnhvhQoVcmgvWrRoiup8oHDhwg7bNptNYWFhDvNgn3/+eXl7e9vnFd+6dUtLly5V27ZtU7S2anh4uFasWKGbN29q48aN6tWrl06fPq3nnnvO/h6PHj2qW7duKSgoKMlnERMT4/BZHDhwQM2bN1dgYKAyZ86snDlzql27dvbapN//3vTv318zZsxQjhw5FB4ersmTJyf79+PPfx+Cg4OVJUsWnT592qE9b968Sd5b1qxZk8yBBZB+eCofcHNr167VxYsXNXfuXM2dOzfJ/sjISNWrV0+S9MILL2jatGlatmyZmjVrpvnz56tYsWIqW7asvX9iYqJKly6tsWPHJnu90NBQh+0/jo49sGnTJjVp0kQ1a9bUxx9/rJCQEHl5eemzzz5L1dqYiYmJkqR27dqpY8eOyfYpU6aM0+dN6XVnz56t4ODgJPs9Pa3xT3DWrFn13HPPKTIyUm+99ZYWLlyouLg4exhMKT8/P9WoUUM1atRQjhw5NGzYMC1btkwdO3ZUYmKigoKCHB6q+6OcOXNKkm7evKlatWopc+bMGj58uAoVKiQfHx/t2rVLgwYNsn+mkjRmzBh16tRJ3377rVauXKm+fftqxIgR+umnn5QnTx57v5T+4oK/WlHBGJPSjwDAv2SNfxUBuExkZKSCgoI0efLkJPsWL16sr7/+WlOnTpWvr69q1qypkJAQzZs3T9WrV9fatWv15ptvOhxTqFAh7d27V88880yKA8GfLVq0SD4+PlqxYoW8vb3t7Z999plDv3z58ikxMVEnT550GBn88xqsD55qT0hIUN26dVNVU2o8GO0MCgpy+roP3tvx48cdRkmPHDni1HkejNo+YIzRsWPHkgTxDh06qGnTptq+fbsiIyP1n//8RyVLlnTqWn/0YET54sWLkn7/LFavXq2nnnoq2f8ZeWD9+vW6fv26Fi9erJo1a9rbT548mWz/0qVLq3Tp0vrf//6nrVu36qmnntLUqVP17rvv2j/Do0ePqnjx4vZjLl++rJs3b7rVerPAo4Jb+YAbi42N1eLFi/Xcc8+pZcuWSV69e/dWdHS0lixZIknKkCGDWrZsqe+++06zZ8/W/fv3HW7jS1Lr1q11/vz5ZBdXj42N1e3bt/+xLg8PD9lsNoflgU6dOqVvvvnGoV94eLik339j1R9NnDgxyflatGihRYsWaf/+/Umul9xSSWkhPDxcmTNn1vvvv6979+45dd0GDRpIkj766COH9vHjxztVwxdffKHo6Gj79sKFC3Xx4kX7+f94vRw5cmjUqFHasGFDikdLH0z1+LMH8zsfhOrWrVsrISFB77zzTpK+9+/f182bNyX9/1HLP45SxsfHJ/lvHBUVpfv37zu0lS5dWhkyZLBPNWnYsKGkpJ/Zg9H8Ro0a/eP7A/BwMWIKuLElS5YoOjpaTZo0SXZ/lSpVlDNnTkVGRtoD6PPPP6+JEydq6NChKl26tMNIlCS1b99e8+fP18svv6x169bpqaeeUkJCgg4fPqz58+drxYoV/zg/s1GjRho7dqzq16+vF198UVeuXNHkyZMVFhamX375xd6vfPnyatGihcaPH6/r16+rSpUq2rBhg3799VdJjrdwR44cqXXr1qly5crq1q2bSpQood9++027du3S6tWr9dtvv6XqM/w7mTNn1pQpU9S+fXuVK1dOL7zwgnLmzKkzZ87o+++/11NPPaVJkyYle+yTTz6pNm3a6OOPP9atW7dUrVo1rVmzxunfyJUtWzZVr15dnTt31uXLlzV+/HiFhYWpW7duDv28vLz0wgsvaNKkSfLw8FCbNm1SdP6mTZuqQIECaty4sQoVKqTbt29r9erV+u6771SxYkU1btxY0u8PufXo0UMjRozQnj17VK9ePXl5eeno0aNasGCBJkyYoJYtW6patWrKmjWrOnbsqL59+8pms2n27NlJbqevXbtWvXv3VqtWrVSkSBHdv39fs2fPtv9PiCSVLVtWHTt21CeffGKfIrBt2zZ9/vnnatasmf1hPwAW4solAQC4VuPGjY2Pj4+5ffv2X/bp1KmT8fLysi+zlJiYaEJDQ40k8+677yZ7THx8vBk1apQpWbKk8fb2NlmzZjXly5c3w4YNM7du3bL3k2R69eqV7DlmzpxpChcubLy9vU2xYsXMZ599luxan7dv3za9evUy2bJlMwEBAaZZs2bmyJEjRpIZOXKkQ9/Lly+bXr16mdDQUOPl5WWCg4PNM888Yz755JMUfV7G/P9lmJJbpii5dUwfHBMeHm4CAwONj4+PKVSokOnUqZPZsWOHvU9y7y02Ntb07dvXZM+e3fj7+5vGjRubs2fPOrVc1Jw5c0xERIQJCgoyvr6+plGjRub06dPJHrNt2zYjydSrVy9lH4YxZs6cOeaFF14whQoVMr6+vsbHx8eUKFHCvPnmmw7LVD3wySefmPLlyxtfX1+TKVMmU7p0afPGG2+YCxcu2Pts2bLFVKlSxfj6+prcuXObN954w75c2YPlq06cOGG6dOliChUqZHx8fEy2bNlMnTp1zOrVqx2ud+/ePTNs2DBToEAB4+XlZUJDQ01ERIR92akH8uXLZxo1apSk3lq1aplatWql+PMA8O/YjGFWN4DHy549e/Sf//xHX375pdq2bevqch4Ze/fu1ZNPPqkvvvhC7du3d3U5ANwQc0wBPNJiY2OTtI0fP14ZMmRweHgG/2z69OkKCAjQf//7X1eXAsBNMccUwCNt9OjR2rlzp+rUqSNPT08tW7ZMy5YtU/fu3ZMsTYXkfffddzp48KA++eQT9e7dW/7+/q4uCYCb4lY+gEfaqlWrNGzYMB08eFAxMTHKmzev2rdvrzfffNMy64RaXf78+XX58mWFh4dr9uzZDr8pCgAeJoIpAAAALIE5pgAAALAEgikAAAAs4ZGegJWYmKgLFy4oU6ZMqf7VhwAAAEg/xhhFR0crd+7cypDh78dEH+lgeuHCBZ66BQAAeAScPXtWefLk+ds+j3QwffDk6NmzZ5U5c2YXVwMAAIA/i4qKUmhoaIpW/Hikg+mD2/eZM2cmmAIAAFhYSqZd8vATAAAALIFgCgAAAEsgmAIAAMASCKYAAACwBIIpAAAALIFgCgAAAEsgmAIAAMASCKYAAACwBIIpAAAALIFgCgAAAEsgmAIAAMASCKYAAACwBIIpAAAALIFgCgAAAEsgmAIAAMASPF1dgBWVf/0LV5cAONj5QQdXlwAAQLpjxB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iCp6sLAPB4KP/6F64uAUhi5wcdXF0CACe4dMT07bffls1mc3gVK1bMlSUBAADARVw+YlqyZEmtXr3avu3p6fKSAAAA4AIuT4Genp4KDg52dRkAAABwMZc//HT06FHlzp1bBQsWVNu2bXXmzJm/7BsXF6eoqCiHFwAAAB4PLg2mlStX1qxZs7R8+XJNmTJFJ0+eVI0aNRQdHZ1s/xEjRigwMND+Cg0NfcgVAwAAIL24NJg2aNBArVq1UpkyZRQeHq4ffvhBN2/e1Pz585PtHxERoVu3btlfZ8+efcgVAwAAIL24fI7pH2XJkkVFihTRsWPHkt3v7e0tb2/vh1wVAAAAHgaXzzH9o5iYGB0/flwhISGuLgUAAAAPmUuD6cCBA7VhwwadOnVKW7duVfPmzeXh4aE2bdq4siwAAAC4gEtv5Z87d05t2rTR9evXlTNnTlWvXl0//fSTcubM6cqyAAAA4AIuDaZz58515eUBAABgIZaaYwoAAAD3RTAFAACAJRBMAQAAYAkEUwAAAFgCwRQAAACWQDAFAACAJRBMAQAAYAkEUwAAAFgCwRQAAACWQDAFAACAJRBMAQAAYAkEUwAAAFgCwRQAAACWQDAFAACAJRBMAQAAYAmeri4AAAB3Vv71L1xdAuBg5wcdXHZtRkwBAABgCQRTAAAAWALBFAAAAJZAMAUAAIAlEEwBAABgCQRTAAAAWALBFAAAAJZAMAUAAIAlEEwBAABgCQRTAAAAWALBFAAAAJZAMAUAAIAlEEwBAABgCQRTAAAAWALBFAAAAJZAMAUAAIAlEEwBAABgCQRTAAAAWALBFAAAAJZAMAUAAIAl/KtgGhcXl1Z1AAAAwM05FUyXLVumjh07qmDBgvLy8pKfn58yZ86sWrVq6b333tOFCxfSq04AAAA85lIUTL/++msVKVJEXbp0kaenpwYNGqTFixdrxYoVmjFjhmrVqqXVq1erYMGCevnll3X16tX0rhsAAACPGc+UdBo9erTGjRunBg0aKEOGpFm2devWkqTz589r4sSJ+vLLL/Xaa6+lbaUAAAB4rKUomP74448pOtkTTzyhkSNH/quCAAAA4J54Kh8AAACWkKIR0z87d+6clixZojNnzig+Pt5h39ixY9OkMAAAALgXp4PpmjVr1KRJExUsWFCHDx9WqVKldOrUKRljVK5cufSoEQAAAG7A6Vv5ERERGjhwoPbt2ycfHx8tWrRIZ8+eVa1atdSqVav0qBEAAABuwOlgeujQIXXo0EGS5OnpqdjYWAUEBGj48OEaNWpUmhcIAAAA9+B0MPX397fPKw0JCdHx48ft+65du5Z2lQEAAMCtOD3HtEqVKtq8ebOKFy+uhg0basCAAdq3b58WL16sKlWqpEeNAAAAcANOB9OxY8cqJiZGkjRs2DDFxMRo3rx5Kly4ME/kAwAAINWcDqYFCxa0/9nf319Tp05N04IAAADgnlhgHwAAAJaQ4hHTrFmzymaz/WO/33777V8VBAAAAPeU4mA6fvx4+5+NMXrllVc0fPhwBQUFpUddAAAAcDMpDqYdO3Z02O7Tp49atGjhMOcUAAAASC3LzDEdOXKkbDabXn31VVeXAgAAABewRDDdvn27pk2bpjJlyri6FAAAALiIy4NpTEyM2rZtq+nTpytr1qyuLgcAAAAukuI5pv3793fYjo+P13vvvafAwECHdmcX2e/Vq5caNWqkunXr6t133/3bvnFxcYqLi7NvR0VFOXUtAAAAWFeKg+nu3bsdtqtVq6YTJ044tKVkOak/mjt3rnbt2qXt27enqP+IESM0bNgwp64BAACAR0OKg+m6devS9MJnz55Vv379tGrVKvn4+KTomIiICIeR26ioKIWGhqZpXQAAAHCNFAfTmjVrqmnTpmrSpIkKFy78ry+8c+dOXblyReXKlbO3JSQkaOPGjZo0aZLi4uLk4eHhcIy3t7e8vb3/9bUBAABgPSl++Klr167aunWrypUrp+LFi2vQoEHasmWLjDGpuvAzzzyjffv2ac+ePfZXhQoV1LZtW+3ZsydJKAUAAMDjzakF9jt27Ki4uDitWbNG3377rVq1aqWEhAQ1atRITZo0UXh4uHx9fVN0vkyZMqlUqVIObf7+/sqePXuSdgAAADz+nF4uytvbWw0bNtS0adN04cIFLVmyRCEhIRoyZIiyZ8+u5557Tlu2bEmPWgEAAPAYS/GI6V+pXLmyKleurPfee0/Hjx/XkiVLdPHixVSda/369f+2HAAAADyinA6mZ8+elc1mU548eSRJ27Zt01dffaUSJUqoe/fueu2119K8SAAAADz+nL6V/+KLL9qXjrp06ZLq1q2rbdu26c0339Tw4cPTvEAAAAC4B6eD6f79+1WpUiVJ0vz581W6dGlt3bpVkZGRmjVrVlrXBwAAADfhdDC9d++efS3R1atXq0mTJpKkYsWKpXpuKQAAAOB0MC1ZsqSmTp2qTZs2adWqVapfv74k6cKFC8qePXuaFwgAAAD34HQwHTVqlKZNm6batWurTZs2Klu2rCRpyZIl9lv8AAAAgLOcfiq/du3aunbtmqKiopQ1a1Z7e/fu3eXn55emxQEAAMB9OD1iKknGGO3cuVPTpk1TdHS0JCljxowEUwAAAKSa0yOmp0+fVv369XXmzBnFxcXp2WefVaZMmTRq1CjFxcVp6tSp6VEnAAAAHnNOj5j269dPFSpU0I0bN+Tr62tvb968udasWZOmxQEAAMB9OD1iumnTJm3dulUZM2Z0aM+fP7/Onz+fZoUBAADAvTg9YpqYmKiEhIQk7efOnVOmTJnSpCgAAAC4H6eDab169TR+/Hj7ts1mU0xMjIYOHaqGDRumZW0AAABwI07fyh8zZozCw8NVokQJ3b17Vy+++KKOHj2qHDlyaM6cOelRIwAAANyA08E0T5482rt3r+bOnatffvlFMTEx6tq1q9q2bevwMBQAAADgDKeDqSR5enqqXbt2aV0LAAAA3FiqgunRo0e1bt06XblyRYmJiQ773nrrrTQpDAAAAO7F6WA6ffp0vfLKK8qRI4eCg4Nls9ns+2w2G8EUAAAAqeJ0MH333Xf13nvvadCgQelRDwAAANyU08tF3bhxQ61atUqPWgAAAODGnA6mrVq10sqVK9OjFgAAALgxp2/lh4WFaciQIfrpp59UunRpeXl5Oezv27dvmhUHAAAA9+F0MP3kk08UEBCgDRs2aMOGDQ77bDYbwRQAAACp4nQwPXnyZHrUAQAAADfn9BxTAAAAID04PWKakJCgWbNmac2aNckusL927do0Kw4AAADuw+lg2q9fP82aNUuNGjVSqVKlHBbYBwAAAFLL6WA6d+5czZ8/Xw0bNkyPegAAAOCmnJ5jmjFjRoWFhaVHLQAAAHBjTgfTAQMGaMKECTLGpEc9AAAAcFNO38rfvHmz1q1bp2XLlqlkyZJJFthfvHhxmhUHAAAA9+F0MM2SJYuaN2+eHrUAAADAjTkdTD/77LP0qAMAAABuzulg+sDVq1d15MgRSVLRokWVM2fONCsKAAAA7sfph59u376tLl26KCQkRDVr1lTNmjWVO3dude3aVXfu3EmPGgEAAOAGnA6m/fv314YNG/Tdd9/p5s2bunnzpr799ltt2LBBAwYMSI8aAQAA4AacvpW/aNEiLVy4ULVr17a3NWzYUL6+vmrdurWmTJmSlvUBAADATTg9Ynrnzh3lypUrSXtQUBC38gEAAJBqTgfTqlWraujQobp79669LTY2VsOGDVPVqlXTtDgAAAC4jxTfyvfw8NDFixc1fvx41a9fX3ny5FHZsmUlSXv37pWPj49WrFiRboUCAADg8ZbiYPrgV5CWLl1aR48eVWRkpA4fPixJatOmjdq2bStfX9/0qRIAAACPvVStY+rn56du3bqldS0AAABwY04F0xkzZiggIOBv+/Tt2/dfFQQAAAD35FQwnTp1qjw8PP5yv81mI5gCAAAgVZwKpjt27FBQUFB61QIAAAA3luLlomw2W3rWAQAAADeX4mD64Kl8AAAAID2kOJgOHTr0Hx98AgAAAFIrRcH0zJkzGjp0qPz8/FJ00vPnz/+rogAAAOB+UhRMK1asqJdfflnbt2//yz63bt3S9OnTVapUKS1atCjNCgQAAIB7SNFT+QcPHtR7772nZ599Vj4+Pipfvrxy584tHx8f3bhxQwcPHtSBAwdUrlw5jR49Wg0bNkzvugEAAPCYSdGIafbs2TV27FhdvHhRkyZNUuHChXXt2jUdPXpUktS2bVvt3LlTP/74I6EUAAAAqeLUOqa+vr5q2bKlWrZsmV71AAAAwE2l+Kl8AAAAID25NJhOmTJFZcqUUebMmZU5c2ZVrVpVy5Ytc2VJAAAAcBGXBtM8efJo5MiR2rlzp3bs2KGnn35aTZs21YEDB1xZFgAAAFzAqTmmaa1x48YO2++9956mTJmin376SSVLlnRRVQAAAHAFlwbTP0pISNCCBQt0+/ZtVa1aNdk+cXFxiouLs29HRUU9rPIAAACQzlIUTJcsWZLiEzZp0sSpAvbt26eqVavq7t27CggI0Ndff60SJUok23fEiBEaNmyYU+cHAADAoyFFwbRZs2YO2zabTcYYh+0HEhISnCqgaNGi2rNnj27duqWFCxeqY8eO2rBhQ7LhNCIiQv3797dvR0VFKTQ01KnrAQAAwJpS9PBTYmKi/bVy5Uo9+eSTWrZsmW7evKmbN2/qhx9+ULly5bR8+XKnC8iYMaPCwsJUvnx5jRgxQmXLltWECROS7evt7W1/gv/BCwAAAI8Hp+eYvvrqq5o6daqqV69ubwsPD5efn5+6d++uQ4cO/auCEhMTHeaRAgAAwD04HUyPHz+uLFmyJGkPDAzUqVOnnDpXRESEGjRooLx58yo6OlpfffWV1q9frxUrVjhbFgAAAB5xTq9jWrFiRfXv31+XL1+2t12+fFmvv/66KlWq5NS5rly5og4dOqho0aJ65plntH37dq1YsULPPvuss2UBAADgEef0iOmnn36q5s2bK2/evPYHj86ePavChQvrm2++cepcM2fOdPbyAAAAeEw5HUzDwsL0yy+/aNWqVTp8+LAkqXjx4qpbt67D0/kAAACAM1K1wL7NZlO9evVUr169tK4HAAAAbipFwfSjjz5K8Qn79u2b6mIAAADgvlIUTMeNG5eik9lsNoIpAAAAUiVFwfTkyZPpXQcAAADcnNPLRT0QHx+vI0eO6P79+2lZDwAAANyU08H0zp076tq1q/z8/FSyZEmdOXNGktSnTx+NHDkyzQsEAACAe3A6mEZERGjv3r1av369fHx87O1169bVvHnz0rQ4AAAAuA+nl4v65ptvNG/ePFWpUsVh3dKSJUvq+PHjaVocAAAA3IfTI6ZXr15VUFBQkvbbt2+zwD4AAABSzelgWqFCBX3//ff27QdhdMaMGapatWraVQYAAAC34vSt/Pfff18NGjTQwYMHdf/+fU2YMEEHDx7U1q1btWHDhvSoEQAAAG7A6RHT6tWra8+ePbp//75Kly6tlStXKigoSD/++KPKly+fHjUCAADADTg9YipJhQoV0vTp09O6FgAAALixFAXTqKgoZc6c2f7nv/OgHwAAAOCMFAXTrFmz6uLFiwoKClKWLFmSffreGCObzaaEhIQ0LxIAAACPvxQF07Vr1ypbtmySpHXr1qVrQQAAAHBPKQqmtWrVUuvWrTVt2jTVqlUrvWsCAACAG0rxU/nnzp1TyZIlHdYwBQAAANJKioPpli1b9Nprr6lVq1Z66aWXFBMTk551AQAAwM2keLkom82m119/XY0bN1bnzp1VunRp9enTR56ejqfo27dvmhcJAACAx5/T65gWK1ZMXbt21csvv6xx48Y5BFObzUYwBQAAQKo4FUwvX76sl156SZs3b9bMmTPVsWPH9KoLAAAAbibFc0znzp2rkiVLKjY2Vnv37iWUAgAAIE2lOJh27dpVQ4cO1erVq5U3b970rAkAAABuKMW38vfs2aPChQunZy0AAABwYykeMSWUAgAAID2lOJgCAAAA6YlgCgAAAEsgmAIAAMASUhVMb968qRkzZigiIkK//fabJGnXrl06f/58mhYHAAAA9+H0b3765ZdfVLduXQUGBurUqVPq1q2bsmXLpsWLF+vMmTP64osv0qNOAAAAPOacHjHt37+/OnXqpKNHj8rHx8fe3rBhQ23cuDFNiwMAAID7cDqYbt++XT169EjS/sQTT+jSpUtpUhQAAADcj9PB1NvbW1FRUUnaf/31V+XMmTNNigIAAID7cTqYNmnSRMOHD9e9e/ckSTabTWfOnNGgQYPUokWLNC8QAAAA7sHpYDpmzBjFxMQoKChIsbGxqlWrlsLCwpQpUya999576VEjAAAA3IDTT+UHBgZq1apV2rx5s3755RfFxMSoXLlyqlu3bnrUBwAAADfhdDB9oHr16qpevXpa1gIAAAA35nQw/eijj5Jtt9ls8vHxUVhYmGrWrCkPD49/XRwAAADch9PBdNy4cbp69aru3LmjrFmzSpJu3LghPz8/BQQE6MqVKypYsKDWrVun0NDQNC8YAAAAjyenH356//33VbFiRR09elTXr1/X9evX9euvv6py5cqaMGGCzpw5o+DgYL322mvpUS8AAAAeU06PmP7vf//TokWLVKhQIXtbWFiYPvzwQ7Vo0UInTpzQ6NGjWToKAAAATnF6xPTixYu6f/9+kvb79+/bf/NT7ty5FR0d/e+rAwAAgNtwOpjWqVNHPXr00O7du+1tu3fv1iuvvKKnn35akrRv3z4VKFAg7aoEAADAY8/pYDpz5kxly5ZN5cuXl7e3t7y9vVWhQgVly5ZNM2fOlCQFBARozJgxaV4sAAAAHl9OzzENDg7WqlWrdPjwYf3666+SpKJFi6po0aL2PnXq1Em7CgEAAOAWUr3AfrFixVSsWLG0rAUAAABuLFXB9Ny5c1qyZInOnDmj+Ph4h31jx45Nk8IAAADgXpwOpmvWrFGTJk1UsGBBHT58WKVKldKpU6dkjFG5cuXSo0YAAAC4AacffoqIiNDAgQO1b98++fj4aNGiRTp79qxq1aqlVq1apUeNAAAAcANOB9NDhw6pQ4cOkiRPT0/FxsYqICBAw4cP16hRo9K8QAAAALgHp4Opv7+/fV5pSEiIjh8/bt937dq1tKsMAAAAbsXpOaZVqlTR5s2bVbx4cTVs2FADBgzQvn37tHjxYlWpUiU9agQAAIAbcHrEdOzYsapcubIkadiwYXrmmWc0b9485c+f377AfkqNGDFCFStWVKZMmRQUFKRmzZrpyJEjzpYEAACAx4BTI6YJCQk6d+6cypQpI+n32/pTp05N9cU3bNigXr16qWLFirp//74GDx6sevXq6eDBg/L390/1eQEAAPDocSqYenh4qF69ejp06JCyZMnyry++fPlyh+1Zs2YpKChIO3fuVM2aNf/1+QEAAPDocHqOaalSpXTixAkVKFAgzYu5deuWJClbtmzJ7o+Li1NcXJx9OyoqKs1rAAAAgGs4Pcf03Xff1cCBA7V06VJdvHhRUVFRDq/USkxM1KuvvqqnnnpKpUqVSrbPiBEjFBgYaH+Fhoam+noAAACwFqdHTBs2bChJatKkiWw2m73dGCObzaaEhIRUFdKrVy/t379fmzdv/ss+ERER6t+/v307KiqKcAoAAPCYcDqYrlu3Ls2L6N27t5YuXaqNGzcqT548f9nP29tb3t7eaX59AAAAuJ7TwbRWrVppdnFjjPr06aOvv/5a69evT5d5qwAAAHg0OD3HVJI2bdqkdu3aqVq1ajp//rwkafbs2X97Gz45vXr10pdffqmvvvpKmTJl0qVLl3Tp0iXFxsampiwAAAA8wpwOposWLVJ4eLh8fX21a9cu+1Pyt27d0vvvv+/UuaZMmaJbt26pdu3aCgkJsb/mzZvnbFkAAAB4xKXqqfypU6dq+vTp8vLysrc/9dRT2rVrl1PnMsYk++rUqZOzZQEAAOAR53QwPXLkSLKL3wcGBurmzZtpURMAAADckNPBNDg4WMeOHUvSvnnzZhUsWDBNigIAAID7cTqYduvWTf369dPPP/8sm82mCxcuKDIyUgMHDtQrr7ySHjUCAADADTi9XNT//d//KTExUc8884zu3LmjmjVrytvbWwMHDlSfPn3So0YAAAC4AaeDqc1m05tvvqnXX39dx44dU0xMjEqUKKGAgID0qA8AAABuwulb+V9++aXu3LmjjBkzqkSJEqpUqRKhFAAAAP+a08H0tddeU1BQkF588UX98MMPSkhISI+6AAAA4GacDqYXL17U3LlzZbPZ1Lp1a4WEhKhXr17aunVretQHAAAAN+F0MPX09NRzzz2nyMhIXblyRePGjdOpU6dUp04dFSpUKD1qBAAAgBtw+uGnP/Lz81N4eLhu3Lih06dP69ChQ2lVFwAAANyM0yOmknTnzh1FRkaqYcOGeuKJJzR+/Hg1b95cBw4cSOv6AAAA4CacHjF94YUXtHTpUvn5+al169YaMmSIqlatmh61AQAAwI04HUw9PDw0f/58hYeHy8PDw2Hf/v37VapUqTQrDgAAAO7D6WAaGRnpsB0dHa05c+ZoxowZ2rlzJ8tHAQAAIFVSNcdUkjZu3KiOHTsqJCREH374oZ5++mn99NNPaVkbAAAA3IhTI6aXLl3SrFmzNHPmTEVFRal169aKi4vTN998oxIlSqRXjQAAAHADKR4xbdy4sYoWLapffvlF48eP14ULFzRx4sT0rA0AAABuJMUjpsuWLVPfvn31yiuvqHDhwulZEwAAANxQikdMN2/erOjoaJUvX16VK1fWpEmTdO3atfSsDQAAAG4kxcG0SpUqmj59ui5evKgePXpo7ty5yp07txITE7Vq1SpFR0enZ50AAAB4zDn9VL6/v7+6dOmizZs3a9++fRowYIBGjhypoKAgNWnSJD1qBAAAgBtI9XJRklS0aFGNHj1a586d05w5c9KqJgAAALihfxVMH/Dw8FCzZs20ZMmStDgdAAAA3FCaBFMAAADg3yKYAgAAwBIIpgAAALAEgikAAAAsgWAKAAAASyCYAgAAwBIIpgAAALAEgikAAAAsgWAKAAAASyCYAgAAwBIIpgAAALAEgikAAAAsgWAKAAAASyCYAgAAwBIIpgAAALAEgikAAAAsgWAKAAAASyCYAgAAwBIIpgAAALAEgikAAAAsgWAKAAAASyCYAgAAwBIIpgAAALAEgikAAAAsgWAKAAAASyCYAgAAwBIIpgAAALAEgikAAAAsgWAKAAAASyCYAgAAwBIIpgAAALAElwbTjRs3qnHjxsqdO7dsNpu++eYbV5YDAAAAF3JpML19+7bKli2ryZMnu7IMAAAAWICnKy/eoEEDNWjQwJUlAAAAwCJcGkydFRcXp7i4OPt2VFSUC6sBAABAWnqkHn4aMWKEAgMD7a/Q0FBXlwQAAIA08kgF04iICN26dcv+Onv2rKtLAgAAQBp5pG7le3t7y9vb29VlAAAAIB08UiOmAAAAeHy5dMQ0JiZGx44ds2+fPHlSe/bsUbZs2ZQ3b14XVgYAAICHzaXBdMeOHapTp459u3///pKkjh07atasWS6qCgAAAK7g0mBau3ZtGWNcWQIAAAAsgjm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zBEsF08uTJyp8/v3x8fFS5cmVt27bN1SUBAADgIXN5MJ03b5769++voUOHateuXSpbtqzCw8N15coVV5cGAACAh8jlwXTs2LHq1q2bOnfurBIlSmjq1Kny8/PTp59+6urSAAAA8BB5uvLi8fHx2rlzpyIiIuxtGTJkUN26dfXjjz8m6R8XF6e4uDj79q1btyRJUVFRaVpXQlxsmp4P+LfS+u94euB7AyviuwM4L62/Nw/OZ4z5x74uDabXrl1TQkKCcuXK5dCeK1cuHT58OEn/ESNGaNiwYUnaQ0ND061GwAoCJ77s6hKARxLfHcB56fW9iY6OVmBg4N/2cWkwdVZERIT69+9v305MTNRvv/2m7Nmzy2azubAy/FlUVJRCQ0N19uxZZc6c2dXlAI8MvjtA6vDdsS5jjKKjo5U7d+5/7OvSYJojRw55eHjo8uXLDu2XL19WcHBwkv7e3t7y9vZ2aMuSJUt6loh/KXPmzPwDAaQC3x0gdfjuWNM/jZQ+4NKHnzJmzKjy5ctrzZo19rbExEStWbNGVatWdWFlAAAAeNhcfiu/f//+6tixoypUqKBKlSpp/Pjxun37tjp37uzq0gAAAPAQuTyYPv/887p69areeustXbp0SU8++aSWL1+e5IEoPFq8vb01dOjQJFMvAPw9vjtA6vDdeTzYTEqe3QcAAADSmcsX2AcAAAAkgikAAAAsgmAKAAAASyCYwim1a9fWq6++mi7n7tSpk5o1a2bfNsaoe/fuypYtm2w2m/bs2ZMu1wWsLCXfufz582v8+PEPpR7gUfHnnynJSc+faUgdgikcJPdFXrhwoXx8fDRmzJh0vfaECRM0a9Ys+/by5cs1a9YsLV26VBcvXlSpUqXS9fpAWuvUqZNsNptsNpu8vLxUoEABvfHGG7p7926aXmf79u3q3r17mp4TcJX169fbvzfJverUqZOi8/z5ZwoeDS5fLgrWNmPGDPXq1UtTp05V586d9d1336X5NRISEmSz2ZL8Vojjx48rJCRE1apVS/NrAg9L/fr19dlnn+nevXvauXOnOnbsKJvNplGjRqXZNXLmzJlm5wJcrVq1arp48WKS9iVLlujll19Wz549U3SelP6mIVgLI6b4S6NHj1afPn00d+5ch194kJiYqDfeeEPZsmVTcHCw3n77bYfjxo4dq9KlS8vf31+hoaHq2bOnYmJi7PtnzZqlLFmyaMmSJSpRooS8vb115swZh9HaTp06qU+fPjpz5oxsNpvy58//EN4xkPa8vb0VHBys0NBQNWvWTHXr1tWqVaskSdevX1ebNm30xBNPyM/PT6VLl9acOXOSnOP+/fvq3bu3AgMDlSNHDg0ZMkR/XOmPW/l4nGTMmFHBwcEOrxs3bmjgwIEaPHiwWrVqpYSEBHXt2lUFChSQr6+vihYtqgkTJjic5893AG/fvq0OHTooICBAISEh6X4XEKlDMEWyBg0apHfeeUdLly5V8+bNHfZ9/vnn8vf3188//6zRo0dr+PDh9h+0kpQhQwZ99NFHOnDggD7//HOtXbtWb7zxhsM57ty5o1GjRmnGjBk6cOCAgoKCHPZPmDBBw4cPV548eXTx4kVt3749/d4s8JDs379fW7duVcaMGSVJd+/eVfny5fX9999r//796t69u9q3b69t27Y5HPf555/L09NT27Zt04QJEzR27FjNmDHDFW8BeOhu3ryppk2bqnbt2nrnnXck/T5AkidPHi1YsEAHDx7UW2+9pcGDB2v+/Pl/eZ7XX39dGzZs0LfffquVK1dq/fr12rVr18N6G0gpA/xBx44dTcaMGY0ks2bNmiT7a9WqZapXr+7QVrFiRTNo0KC/POeCBQtM9uzZ7dufffaZkWT27NmT5NpNmza1b48bN87ky5cvdW8EsICOHTsaDw8P4+/vb7y9vY0kkyFDBrNw4cK/PKZRo0ZmwIAB9u1atWqZ4sWLm8TERHvboEGDTPHixe3b+fLlM+PGjUuX9wC4UkJCgmnQoIEpXry4iYqK+tu+vXr1Mi1atLBv//FnSnR0tMmYMaOZP3++ff/169eNr6+v6devX3qUjlRijimSKFOmjK5du6ahQ4eqUqVKCggISLL/j0JCQnTlyhX79urVqzVixAgdPnxYUVFRun//vu7evas7d+7Iz89P0u+3av58HuBxVKdOHU2ZMkW3b9/WuHHj5OnpqRYtWkj6fX71+++/r/nz5+v8+fOKj49XXFyc/XvyQJUqVWSz2ezbVatW1ZgxY5SQkCAPD4+H+n6Ah2nw4MH68ccftW3bNmXKlMlh3+TJk/Xpp5/qzJkzio2NVXx8vJ588slkz3P8+HHFx8ercuXK9rZs2bKpaNGi6Vk+UoFb+UjiiSee0Pr163X+/HnVr19f0dHRDvu9vLwctm02mxITEyVJp06d0nPPPacyZcpo0aJF2rlzpyZPnixJio+Ptx/j6+vr8IMWeFz5+/srLCxMZcuW1aeffqqff/5ZM2fOlCR98MEHmjBhggYNGqR169Zpz549Cg8Pd/iuAO5q7ty5+vDDDzV37lwVLlw4yb6BAweqa9euWrlypfbs2aPOnTvz3XkMEEyRrHz58mnDhg26dOlSsuH0r+zcuVOJiYkaM2aMqlSpoiJFiujChQvpXC3waMiQIYMGDx6s//3vf4qNjdWWLVvUtGlTtWvXTmXLllXBggX166+/Jjnu559/dtj+6aefVLhwYUZL8djas2ePunbtqpEjRyo8PDzJ/i1btqhatWrq2bOn/vOf/ygsLEzHjx//y/MVKlRIXl5eDt+lGzduJPt9g2sRTPGXQkNDtX79el25ckXh4eGKior6x2PCwsJ07949TZw4USdOnNDs2bM1derUh1At8Gho1aqVPDw8NHnyZBUuXFirVq3S1q1bdejQIfXo0UOXL19OcsyZM2fUv39/HTlyRHPmzNHEiRPVr18/F1QPpL9r166pWbNmql27ttq1a6dLly45vK5evarChQtrx44dWrFihX799VcNGTLkbx+SDQgIUNeuXfX6669r7dq12r9/vzp16qQMGYhBVsMcU/ytPHnyaP369apTp47Cw8MVFxf3t/3Lli2rsWPHatSoUYqIiFDNmjU1YsQIdejQ4SFVDFibp6enevfurdGjR2v37t06ceKEwsPD5efnp+7du6tZs2a6deuWwzEdOnRQbGysKlWqJA8PD/Xr148F9fHY+v7773X69GmdPn1aISEhSfbny5dPR44c0e7du/X888/LZrOpTZs26tmzp5YtW/aX5/3ggw8UExOjxo0bK1OmTBowYECS7xpcz2bMHxbDAwAAAFyEMWwAAABYAsEUAAAAlkAwBQAAgCUQTAEAAGAJBFMAAABYAsEUAAAAlkAwBQAAgCUQTAEAAGAJBFMAAABYAsEUAFLh6tWreuWVV5Q3b155e3srODhY4eHh2rJli6tLA4BHlqerCwCAR1GLFi0UHx+vzz//XAULFtTly5e1Zs0aXb9+3dWlAcAjixFTAHDSzZs3tWnTJo0aNUp16tRRvnz5VKlSJUVERKhJkyb2Pi+99JJy5sypzJkz6+mnn9bevXvt5zh+/LiaNm2qXLlyKSAgQBUrVtTq1asdrvPxxx+rcOHC8vHxUa5cudSyZUv7vri4OPXt21dBQUHy8fFR9erVtX37dvv+9evXy2azac2aNapQoYL8/PxUrVo1HTlyJJ0/HQBIPYIpADgpICBAAQEB+uabbxQXF5dsn1atWunKlStatmyZdu7cqXLlyumZZ57Rb7/9JkmKiYlRw4YNtWbNGu3evVv169dX48aNdebMGUnSjh071LdvXw0fPlxHjhzR8uXLVbNmTfv533jjDS1atEiff/65du3apbCwMIWHh9vP/8Cbb76pMWPGaMeOHfL09FSXLl3S6VMBgDRgAABOW7hwocmaNavx8fEx1apVMxEREWbv3r3GGGM2bdpkMmfObO7evetwTKFChcy0adP+8pwlS5Y0EydONMYYs2jRIpM5c2YTFRWVpF9MTIzx8vIykZGR9rb4+HiTO3duM3r0aGOMMevWrTOSzOrVq+19vv/+eyPJxMbGpv6NA0A6YsQUAFKhRYsWunDhgpYsWaL69etr/fr1KleunGbNmqW9e/cqJiZG2bNnt4+uBgQE6OTJkzp+/Lik30dMBw4cqOLFiytLliwKCAjQoUOH7COmzz77rPLly6eCBQuqffv2ioyM1J07dyT9Pg3g3r17euqpp+z1eHl5qVKlSjp06JBDnWXKlLH/OSQkRJJ05cqVdP1sACC1ePgJAFLJx8dHzz77rJ599lkNGTJEL730koYOHaqePXsqJCRE69evT3JMlixZJEkDBw7UqlWr9OGHHyosLEy+vr5q2bKl4uPjJUmZMmXSrl27tH79eq1cuVJvvfWW3n77bYd5pCnh5eVl/7PNZpMkJSYmpu4NA0A6Y8QUANJIiRIldPv2bZUrV06XLl2Sp6enwsLCHF45cuSQJG3ZskWdOnVS8+bNVbp0aQUHB+vUqVMO5/P09FTdunU1evRo/fLLLzp16pTWrl2rQoUKKWPGjA5LU927d0/bt29XiRIlHuZbBoA0xYgpADjp+vXratWqlbp06aIyZcooU6ZM2rFjh0aPHq2mTZuqbt26qlq1qpo1a6bRo0erSJEiunDhgr7//ns1b95cFSpUUOHChbV48WI1btxYNptNQ4YMcRjJXLp0qU6cOKGaNWsqa9as+uGHH5SYmKiiRYvK399fr7zyil5//XVly5ZNefPm1ejRo3Xnzh117drVhZ8MAPw7BFMAcFJAQIAqV66scePG2ed7hoaGqlu3bho8eLBsNpt++OEHvfnmm+rcubOuXr2q4OBg1axZU7ly5ZIkjR07Vl26dFG1atWUI0cODRo0SFFRUfZrZMmSRYsXL9bbb7+tu3fvqnDhwpozZ45KliwpSRo5cqQSExPVvn17RUdHq0KFClqxYoWyZs3qks8EANKCzRhjXF0EAAAAwBxTAAAAWALBFAAAAJZAMAUAAIAlEEwBAABgCQRTAAAAWALBFAAAAJZAMAUAAIAlEEwBAABgCQRTAAAAWALBFAAAAJZAMAUAAIAl/D8xJgGM75WJZQ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b="1"/>
          </a:p>
        </p:txBody>
      </p:sp>
      <p:sp>
        <p:nvSpPr>
          <p:cNvPr id="3" name="AutoShape 4" descr="data:image/png;base64,iVBORw0KGgoAAAANSUhEUgAAAqYAAAHWCAYAAAClsUvDAAAAOnRFWHRTb2Z0d2FyZQBNYXRwbG90bGliIHZlcnNpb24zLjEwLjAsIGh0dHBzOi8vbWF0cGxvdGxpYi5vcmcvlHJYcgAAAAlwSFlzAAAPYQAAD2EBqD+naQAAQI9JREFUeJzt3Xd0FNX///HXkoRUCDUkSKihNz90kKpIKNI+FEU6CChVAeUb/CCChaI0AQEBRTHSURGl96LSkS69d4EkEBJI7u8PD/tzTdRsTNiBfT7O2XOYO3dm3ruy5OWdOzc2Y4wRAAAA4GIZXF0AAAAAIBFMAQAAYBEEUwAAAFgCwRQAAACWQDAFAACAJRBMAQAAYAkEUwAAAFgCwRQAAACWQDAFAACAJRBMASCNzJo1SzabTadOnXL62Lfffls2my1FfW02m95+++2/7bN+/XrZbDYtXLjQ6VoAwFUIpgDsPv74Y9lsNlWuXNnVpVjGjz/+qAwZMigiIiLZ/aNGjZLNZtP333//kCuzjs2bN6tBgwZ64okn5OPjo7x586px48b66quvXF0agEcMwRSAXWRkpPLnz69t27bp2LFjri7HEqpWraoePXpozJgxOnDggMO+06dPa/jw4WrVqpUaNWqk9u3bKzY2Vvny5XNRtQ/fggULVLNmTV2+fFn9+vXTxIkT1a5dO924cUPTp093dXkAHjGeri4AgDWcPHlSW7du1eLFi9WjRw9FRkZq6NChD7WGxMRExcfHy8fH56Fe95+MHDlS3377rXr06KFNmzbZb7n36dNHXl5emjBhgiTJw8NDHh4eriz1oXv77bdVokQJ/fTTT8qYMaPDvitXrrioKgCPKkZMAUj6fbQ0a9asatSokVq2bKnIyEj7vnv37ilbtmzq3LlzkuOioqLk4+OjgQMH2tvi4uI0dOhQhYWFydvbW6GhoXrjjTcUFxfncKzNZlPv3r0VGRmpkiVLytvbW8uXL5ckffjhh6pWrZqyZ88uX19flS9fPtn5krGxserbt69y5MihTJkyqUmTJjp//nyy8zDPnz+vLl26KFeuXPL29lbJkiX16aef/uNnExgYqAkTJmjLli2aMWOGJOnrr7/Wd999p5EjRyokJETSX88xXbZsmWrUqCF/f39lypRJjRo1SjL6mpy4uDi99tprypkzp/29nTt37h+P+6OEhAQNHjxYwcHB8vf3V5MmTXT27Fn7/qFDh8rLy0tXr15Ncmz37t2VJUsW3b179y/Pf/z4cVWsWDFJKJWkoKAgh+3ExESNHz9eJUuWlI+Pj3LlyqUePXroxo0bDv2+/fZbNWrUSLlz55a3t7cKFSqkd955RwkJCQ79jh49qhYtWig4OFg+Pj7KkyePXnjhBd26dcve5/79+3rnnXdUqFAheXt7K3/+/Bo8eHCSv4v58+fXc889p82bN6tSpUry8fFRwYIF9cUXX/zleweQDgwAGGOKFStmunbtaowxZuPGjUaS2bZtm31/ly5dTJYsWUxcXJzDcZ9//rmRZLZv326MMSYhIcHUq1fP+Pn5mVdffdVMmzbN9O7d23h6epqmTZs6HCvJFC9e3OTMmdMMGzbMTJ482ezevdsYY0yePHlMz549zaRJk8zYsWNNpUqVjCSzdOlSh3O0bt3aSDLt27c3kydPNq1btzZly5Y1kszQoUPt/S5dumTy5MljQkNDzfDhw82UKVNMkyZNjCQzbty4FH1GjRo1MlmzZjXHjx83oaGhplq1aiYxMdG+/7PPPjOSzMmTJ+1tX3zxhbHZbKZ+/fpm4sSJZtSoUSZ//vwmS5YsDv2GDh1q/vxPcrt27Ywk8+KLL5pJkyaZ//73v6ZMmTJJ3lty1q1bZySZ0qVLmzJlypixY8ea//u//zM+Pj6mSJEi5s6dO8YYY44ePWokmYkTJzocHxcXZ7JmzWq6dOnyt9cpUqSICQ0NNWfPnv3bfsYY89JLLxlPT0/TrVs3M3XqVDNo0CDj7+9vKlasaOLj4+39mjVrZlq3bm0++OADM2XKFNOqVSsjyQwcONChvgIFCpjcuXObd99918yYMcMMGzbMVKxY0Zw6dcrer2PHjkaSadmypZk8ebLp0KGDkWSaNWvmUFu+fPlM0aJFTa5cuczgwYPNpEmTTLly5YzNZjP79+//x/cGIG0QTAGYHTt2GElm1apVxhhjEhMTTZ48eUy/fv3sfVasWGEkme+++87h2IYNG5qCBQvat2fPnm0yZMhgNm3a5NBv6tSpRpLZsmWLvU2SyZAhgzlw4ECSmh4Epwfi4+NNqVKlzNNPP21v27lzp5FkXn31VYe+nTp1ShLeunbtakJCQsy1a9cc+r7wwgsmMDAwyfWSc+rUKePv72+yZctmvLy8zL59+xz2/zmYRkdHmyxZsphu3bo59Lt06ZIJDAx0aP9zMN2zZ4+RZHr27Olw7IsvvuhUMH3iiSdMVFSUvX3+/PlGkpkwYYK9rWrVqqZy5coOxy9evNhIMuvWrfvb68ycOdNIMhkzZjR16tQxQ4YMMZs2bTIJCQkO/TZt2mQkmcjISIf25cuXJ2lP7r9Fjx49jJ+fn7l7964xxpjdu3cbSWbBggV/WduDz/Cll15yaB84cKCRZNauXWtvy5cvn5FkNm7caG+7cuWK8fb2NgMGDPjbzwBA2uFWPgBFRkYqV65cqlOnjqTfb7E///zzmjt3rv326dNPP60cOXJo3rx59uNu3LihVatW6fnnn7e3LViwQMWLF1exYsV07do1++vpp5+WJK1bt87h2rVq1VKJEiWS1OTr6+twnVu3bqlGjRratWuXvf3Bbf+ePXs6HNunTx+HbWOMFi1apMaNG8sY41BXeHi4bt265XDev5IvXz4NHTpUv/32m/r3769SpUr9bf9Vq1bp5s2batOmjcM1PTw8VLly5SSfxR/98MMPkqS+ffs6tL/66qv/WOcfdejQQZkyZbJvt2zZUiEhIfbzP+jz888/6/jx4/a2yMhIhYaGqlatWn97/i5dumj58uWqXbu2Nm/erHfeeUc1atRQ4cKFtXXrVnu/BQsWKDAwUM8++6zDZ1G+fHkFBAQ4fBZ//G8fHR2ta9euqUaNGrpz544OHz4s6ffpFZK0YsUK3blzJ9naHrzH/v37O7QPGDBAkpKspFCiRAnVqFHDvp0zZ04VLVpUJ06c+NvPAEDaIZgCbi4hIUFz585VnTp1dPLkSR07dkzHjh1T5cqVdfnyZa1Zs0aS5OnpqRYtWujbb7+1z89bvHix7t275xBMjx49qgMHDihnzpwOryJFikhK+kBMgQIFkq1r6dKlqlKlinx8fJQtWzblzJlTU6ZMcZg/ePr0aWXIkCHJOcLCwhy2r169qps3b+qTTz5JUteDebMpfVCnYsWKkqQKFSr8Y9+jR49K+j3U//m6K1eu/NtrPnhvhQoVcmgvWrRoiup8oHDhwg7bNptNYWFhDvNgn3/+eXl7e9vnFd+6dUtLly5V27ZtU7S2anh4uFasWKGbN29q48aN6tWrl06fPq3nnnvO/h6PHj2qW7duKSgoKMlnERMT4/BZHDhwQM2bN1dgYKAyZ86snDlzql27dvbapN//3vTv318zZsxQjhw5FB4ersmTJyf79+PPfx+Cg4OVJUsWnT592qE9b968Sd5b1qxZk8yBBZB+eCofcHNr167VxYsXNXfuXM2dOzfJ/sjISNWrV0+S9MILL2jatGlatmyZmjVrpvnz56tYsWIqW7asvX9iYqJKly6tsWPHJnu90NBQh+0/jo49sGnTJjVp0kQ1a9bUxx9/rJCQEHl5eemzzz5L1dqYiYmJkqR27dqpY8eOyfYpU6aM0+dN6XVnz56t4ODgJPs9Pa3xT3DWrFn13HPPKTIyUm+99ZYWLlyouLg4exhMKT8/P9WoUUM1atRQjhw5NGzYMC1btkwdO3ZUYmKigoKCHB6q+6OcOXNKkm7evKlatWopc+bMGj58uAoVKiQfHx/t2rVLgwYNsn+mkjRmzBh16tRJ3377rVauXKm+fftqxIgR+umnn5QnTx57v5T+4oK/WlHBGJPSjwDAv2SNfxUBuExkZKSCgoI0efLkJPsWL16sr7/+WlOnTpWvr69q1qypkJAQzZs3T9WrV9fatWv15ptvOhxTqFAh7d27V88880yKA8GfLVq0SD4+PlqxYoW8vb3t7Z999plDv3z58ikxMVEnT550GBn88xqsD55qT0hIUN26dVNVU2o8GO0MCgpy+roP3tvx48cdRkmPHDni1HkejNo+YIzRsWPHkgTxDh06qGnTptq+fbsiIyP1n//8RyVLlnTqWn/0YET54sWLkn7/LFavXq2nnnoq2f8ZeWD9+vW6fv26Fi9erJo1a9rbT548mWz/0qVLq3Tp0vrf//6nrVu36qmnntLUqVP17rvv2j/Do0ePqnjx4vZjLl++rJs3b7rVerPAo4Jb+YAbi42N1eLFi/Xcc8+pZcuWSV69e/dWdHS0lixZIknKkCGDWrZsqe+++06zZ8/W/fv3HW7jS1Lr1q11/vz5ZBdXj42N1e3bt/+xLg8PD9lsNoflgU6dOqVvvvnGoV94eLik339j1R9NnDgxyflatGihRYsWaf/+/Umul9xSSWkhPDxcmTNn1vvvv6979+45dd0GDRpIkj766COH9vHjxztVwxdffKHo6Gj79sKFC3Xx4kX7+f94vRw5cmjUqFHasGFDikdLH0z1+LMH8zsfhOrWrVsrISFB77zzTpK+9+/f182bNyX9/1HLP45SxsfHJ/lvHBUVpfv37zu0lS5dWhkyZLBPNWnYsKGkpJ/Zg9H8Ro0a/eP7A/BwMWIKuLElS5YoOjpaTZo0SXZ/lSpVlDNnTkVGRtoD6PPPP6+JEydq6NChKl26tMNIlCS1b99e8+fP18svv6x169bpqaeeUkJCgg4fPqz58+drxYoV/zg/s1GjRho7dqzq16+vF198UVeuXNHkyZMVFhamX375xd6vfPnyatGihcaPH6/r16+rSpUq2rBhg3799VdJjrdwR44cqXXr1qly5crq1q2bSpQood9++027du3S6tWr9dtvv6XqM/w7mTNn1pQpU9S+fXuVK1dOL7zwgnLmzKkzZ87o+++/11NPPaVJkyYle+yTTz6pNm3a6OOPP9atW7dUrVo1rVmzxunfyJUtWzZVr15dnTt31uXLlzV+/HiFhYWpW7duDv28vLz0wgsvaNKkSfLw8FCbNm1SdP6mTZuqQIECaty4sQoVKqTbt29r9erV+u6771SxYkU1btxY0u8PufXo0UMjRozQnj17VK9ePXl5eeno0aNasGCBJkyYoJYtW6patWrKmjWrOnbsqL59+8pms2n27NlJbqevXbtWvXv3VqtWrVSkSBHdv39fs2fPtv9PiCSVLVtWHTt21CeffGKfIrBt2zZ9/vnnatasmf1hPwAW4solAQC4VuPGjY2Pj4+5ffv2X/bp1KmT8fLysi+zlJiYaEJDQ40k8+677yZ7THx8vBk1apQpWbKk8fb2NlmzZjXly5c3w4YNM7du3bL3k2R69eqV7DlmzpxpChcubLy9vU2xYsXMZ599luxan7dv3za9evUy2bJlMwEBAaZZs2bmyJEjRpIZOXKkQ9/Lly+bXr16mdDQUOPl5WWCg4PNM888Yz755JMUfV7G/P9lmJJbpii5dUwfHBMeHm4CAwONj4+PKVSokOnUqZPZsWOHvU9y7y02Ntb07dvXZM+e3fj7+5vGjRubs2fPOrVc1Jw5c0xERIQJCgoyvr6+plGjRub06dPJHrNt2zYjydSrVy9lH4YxZs6cOeaFF14whQoVMr6+vsbHx8eUKFHCvPnmmw7LVD3wySefmPLlyxtfX1+TKVMmU7p0afPGG2+YCxcu2Pts2bLFVKlSxfj6+prcuXObN954w75c2YPlq06cOGG6dOliChUqZHx8fEy2bNlMnTp1zOrVqx2ud+/ePTNs2DBToEAB4+XlZUJDQ01ERIR92akH8uXLZxo1apSk3lq1aplatWql+PMA8O/YjGFWN4DHy549e/Sf//xHX375pdq2bevqch4Ze/fu1ZNPPqkvvvhC7du3d3U5ANwQc0wBPNJiY2OTtI0fP14ZMmRweHgG/2z69OkKCAjQf//7X1eXAsBNMccUwCNt9OjR2rlzp+rUqSNPT08tW7ZMy5YtU/fu3ZMsTYXkfffddzp48KA++eQT9e7dW/7+/q4uCYCb4lY+gEfaqlWrNGzYMB08eFAxMTHKmzev2rdvrzfffNMy64RaXf78+XX58mWFh4dr9uzZDr8pCgAeJoIpAAAALIE5pgAAALAEgikAAAAs4ZGegJWYmKgLFy4oU6ZMqf7VhwAAAEg/xhhFR0crd+7cypDh78dEH+lgeuHCBZ66BQAAeAScPXtWefLk+ds+j3QwffDk6NmzZ5U5c2YXVwMAAIA/i4qKUmhoaIpW/Hikg+mD2/eZM2cmmAIAAFhYSqZd8vATAAAALIFgCgAAAEsgmAIAAMASCKYAAACwBIIpAAAALIFgCgAAAEsgmAIAAMASCKYAAACwBIIpAAAALIFgCgAAAEsgmAIAAMASCKYAAACwBIIpAAAALIFgCgAAAEsgmAIAAMASPF1dgBWVf/0LV5cAONj5QQdXlwAAQLpjxB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iCp6sLAPB4KP/6F64uAUhi5wcdXF0CACe4dMT07bffls1mc3gVK1bMlSUBAADARVw+YlqyZEmtXr3avu3p6fKSAAAA4AIuT4Genp4KDg52dRkAAABwMZc//HT06FHlzp1bBQsWVNu2bXXmzJm/7BsXF6eoqCiHFwAAAB4PLg2mlStX1qxZs7R8+XJNmTJFJ0+eVI0aNRQdHZ1s/xEjRigwMND+Cg0NfcgVAwAAIL24NJg2aNBArVq1UpkyZRQeHq4ffvhBN2/e1Pz585PtHxERoVu3btlfZ8+efcgVAwAAIL24fI7pH2XJkkVFihTRsWPHkt3v7e0tb2/vh1wVAAAAHgaXzzH9o5iYGB0/flwhISGuLgUAAAAPmUuD6cCBA7VhwwadOnVKW7duVfPmzeXh4aE2bdq4siwAAAC4gEtv5Z87d05t2rTR9evXlTNnTlWvXl0//fSTcubM6cqyAAAA4AIuDaZz58515eUBAABgIZaaYwoAAAD3RTAFAACAJRBMAQAAYAkEUwAAAFgCwRQAAACWQDAFAACAJRBMAQAAYAkEUwAAAFgCwRQAAACWQDAFAACAJRBMAQAAYAkEUwAAAFgCwRQAAACWQDAFAACAJRBMAQAAYAmeri4AAAB3Vv71L1xdAuBg5wcdXHZtRkwBAABgCQRTAAAAWALBFAAAAJZAMAUAAIAlEEwBAABgCQRTAAAAWALBFAAAAJZAMAUAAIAlEEwBAABgCQRTAAAAWALBFAAAAJZAMAUAAIAlEEwBAABgCQRTAAAAWALBFAAAAJZAMAUAAIAlEEwBAABgCQRTAAAAWALBFAAAAJZAMAUAAIAl/KtgGhcXl1Z1AAAAwM05FUyXLVumjh07qmDBgvLy8pKfn58yZ86sWrVq6b333tOFCxfSq04AAAA85lIUTL/++msVKVJEXbp0kaenpwYNGqTFixdrxYoVmjFjhmrVqqXVq1erYMGCevnll3X16tX0rhsAAACPGc+UdBo9erTGjRunBg0aKEOGpFm2devWkqTz589r4sSJ+vLLL/Xaa6+lbaUAAAB4rKUomP74448pOtkTTzyhkSNH/quCAAAA4J54Kh8AAACWkKIR0z87d+6clixZojNnzig+Pt5h39ixY9OkMAAAALgXp4PpmjVr1KRJExUsWFCHDx9WqVKldOrUKRljVK5cufSoEQAAAG7A6Vv5ERERGjhwoPbt2ycfHx8tWrRIZ8+eVa1atdSqVav0qBEAAABuwOlgeujQIXXo0EGS5OnpqdjYWAUEBGj48OEaNWpUmhcIAAAA9+B0MPX397fPKw0JCdHx48ft+65du5Z2lQEAAMCtOD3HtEqVKtq8ebOKFy+uhg0basCAAdq3b58WL16sKlWqpEeNAAAAcANOB9OxY8cqJiZGkjRs2DDFxMRo3rx5Kly4ME/kAwAAINWcDqYFCxa0/9nf319Tp05N04IAAADgnlhgHwAAAJaQ4hHTrFmzymaz/WO/33777V8VBAAAAPeU4mA6fvx4+5+NMXrllVc0fPhwBQUFpUddAAAAcDMpDqYdO3Z02O7Tp49atGjhMOcUAAAASC3LzDEdOXKkbDabXn31VVeXAgAAABewRDDdvn27pk2bpjJlyri6FAAAALiIy4NpTEyM2rZtq+nTpytr1qyuLgcAAAAukuI5pv3793fYjo+P13vvvafAwECHdmcX2e/Vq5caNWqkunXr6t133/3bvnFxcYqLi7NvR0VFOXUtAAAAWFeKg+nu3bsdtqtVq6YTJ044tKVkOak/mjt3rnbt2qXt27enqP+IESM0bNgwp64BAACAR0OKg+m6devS9MJnz55Vv379tGrVKvn4+KTomIiICIeR26ioKIWGhqZpXQAAAHCNFAfTmjVrqmnTpmrSpIkKFy78ry+8c+dOXblyReXKlbO3JSQkaOPGjZo0aZLi4uLk4eHhcIy3t7e8vb3/9bUBAABgPSl++Klr167aunWrypUrp+LFi2vQoEHasmWLjDGpuvAzzzyjffv2ac+ePfZXhQoV1LZtW+3ZsydJKAUAAMDjzakF9jt27Ki4uDitWbNG3377rVq1aqWEhAQ1atRITZo0UXh4uHx9fVN0vkyZMqlUqVIObf7+/sqePXuSdgAAADz+nF4uytvbWw0bNtS0adN04cIFLVmyRCEhIRoyZIiyZ8+u5557Tlu2bEmPWgEAAPAYS/GI6V+pXLmyKleurPfee0/Hjx/XkiVLdPHixVSda/369f+2HAAAADyinA6mZ8+elc1mU548eSRJ27Zt01dffaUSJUqoe/fueu2119K8SAAAADz+nL6V/+KLL9qXjrp06ZLq1q2rbdu26c0339Tw4cPTvEAAAAC4B6eD6f79+1WpUiVJ0vz581W6dGlt3bpVkZGRmjVrVlrXBwAAADfhdDC9d++efS3R1atXq0mTJpKkYsWKpXpuKQAAAOB0MC1ZsqSmTp2qTZs2adWqVapfv74k6cKFC8qePXuaFwgAAAD34HQwHTVqlKZNm6batWurTZs2Klu2rCRpyZIl9lv8AAAAgLOcfiq/du3aunbtmqKiopQ1a1Z7e/fu3eXn55emxQEAAMB9OD1iKknGGO3cuVPTpk1TdHS0JCljxowEUwAAAKSa0yOmp0+fVv369XXmzBnFxcXp2WefVaZMmTRq1CjFxcVp6tSp6VEnAAAAHnNOj5j269dPFSpU0I0bN+Tr62tvb968udasWZOmxQEAAMB9OD1iumnTJm3dulUZM2Z0aM+fP7/Onz+fZoUBAADAvTg9YpqYmKiEhIQk7efOnVOmTJnSpCgAAAC4H6eDab169TR+/Hj7ts1mU0xMjIYOHaqGDRumZW0AAABwI07fyh8zZozCw8NVokQJ3b17Vy+++KKOHj2qHDlyaM6cOelRIwAAANyA08E0T5482rt3r+bOnatffvlFMTEx6tq1q9q2bevwMBQAAADgDKeDqSR5enqqXbt2aV0LAAAA3FiqgunRo0e1bt06XblyRYmJiQ773nrrrTQpDAAAAO7F6WA6ffp0vfLKK8qRI4eCg4Nls9ns+2w2G8EUAAAAqeJ0MH333Xf13nvvadCgQelRDwAAANyU08tF3bhxQ61atUqPWgAAAODGnA6mrVq10sqVK9OjFgAAALgxp2/lh4WFaciQIfrpp59UunRpeXl5Oezv27dvmhUHAAAA9+F0MP3kk08UEBCgDRs2aMOGDQ77bDYbwRQAAACp4nQwPXnyZHrUAQAAADfn9BxTAAAAID04PWKakJCgWbNmac2aNckusL927do0Kw4AAADuw+lg2q9fP82aNUuNGjVSqVKlHBbYBwAAAFLL6WA6d+5czZ8/Xw0bNkyPegAAAOCmnJ5jmjFjRoWFhaVHLQAAAHBjTgfTAQMGaMKECTLGpEc9AAAAcFNO38rfvHmz1q1bp2XLlqlkyZJJFthfvHhxmhUHAAAA9+F0MM2SJYuaN2+eHrUAAADAjTkdTD/77LP0qAMAAABuzulg+sDVq1d15MgRSVLRokWVM2fONCsKAAAA7sfph59u376tLl26KCQkRDVr1lTNmjWVO3dude3aVXfu3EmPGgEAAOAGnA6m/fv314YNG/Tdd9/p5s2bunnzpr799ltt2LBBAwYMSI8aAQAA4AacvpW/aNEiLVy4ULVr17a3NWzYUL6+vmrdurWmTJmSlvUBAADATTg9Ynrnzh3lypUrSXtQUBC38gEAAJBqTgfTqlWraujQobp79669LTY2VsOGDVPVqlXTtDgAAAC4jxTfyvfw8NDFixc1fvx41a9fX3ny5FHZsmUlSXv37pWPj49WrFiRboUCAADg8ZbiYPrgV5CWLl1aR48eVWRkpA4fPixJatOmjdq2bStfX9/0qRIAAACPvVStY+rn56du3bqldS0AAABwY04F0xkzZiggIOBv+/Tt2/dfFQQAAAD35FQwnTp1qjw8PP5yv81mI5gCAAAgVZwKpjt27FBQUFB61QIAAAA3luLlomw2W3rWAQAAADeX4mD64Kl8AAAAID2kOJgOHTr0Hx98AgAAAFIrRcH0zJkzGjp0qPz8/FJ00vPnz/+rogAAAOB+UhRMK1asqJdfflnbt2//yz63bt3S9OnTVapUKS1atCjNCgQAAIB7SNFT+QcPHtR7772nZ599Vj4+Pipfvrxy584tHx8f3bhxQwcPHtSBAwdUrlw5jR49Wg0bNkzvugEAAPCYSdGIafbs2TV27FhdvHhRkyZNUuHChXXt2jUdPXpUktS2bVvt3LlTP/74I6EUAAAAqeLUOqa+vr5q2bKlWrZsmV71AAAAwE2l+Kl8AAAAID25NJhOmTJFZcqUUebMmZU5c2ZVrVpVy5Ytc2VJAAAAcBGXBtM8efJo5MiR2rlzp3bs2KGnn35aTZs21YEDB1xZFgAAAFzAqTmmaa1x48YO2++9956mTJmin376SSVLlnRRVQAAAHAFlwbTP0pISNCCBQt0+/ZtVa1aNdk+cXFxiouLs29HRUU9rPIAAACQzlIUTJcsWZLiEzZp0sSpAvbt26eqVavq7t27CggI0Ndff60SJUok23fEiBEaNmyYU+cHAADAoyFFwbRZs2YO2zabTcYYh+0HEhISnCqgaNGi2rNnj27duqWFCxeqY8eO2rBhQ7LhNCIiQv3797dvR0VFKTQ01KnrAQAAwJpS9PBTYmKi/bVy5Uo9+eSTWrZsmW7evKmbN2/qhx9+ULly5bR8+XKnC8iYMaPCwsJUvnx5jRgxQmXLltWECROS7evt7W1/gv/BCwAAAI8Hp+eYvvrqq5o6daqqV69ubwsPD5efn5+6d++uQ4cO/auCEhMTHeaRAgAAwD04HUyPHz+uLFmyJGkPDAzUqVOnnDpXRESEGjRooLx58yo6OlpfffWV1q9frxUrVjhbFgAAAB5xTq9jWrFiRfXv31+XL1+2t12+fFmvv/66KlWq5NS5rly5og4dOqho0aJ65plntH37dq1YsULPPvuss2UBAADgEef0iOmnn36q5s2bK2/evPYHj86ePavChQvrm2++cepcM2fOdPbyAAAAeEw5HUzDwsL0yy+/aNWqVTp8+LAkqXjx4qpbt67D0/kAAACAM1K1wL7NZlO9evVUr169tK4HAAAAbipFwfSjjz5K8Qn79u2b6mIAAADgvlIUTMeNG5eik9lsNoIpAAAAUiVFwfTkyZPpXQcAAADcnNPLRT0QHx+vI0eO6P79+2lZDwAAANyU08H0zp076tq1q/z8/FSyZEmdOXNGktSnTx+NHDkyzQsEAACAe3A6mEZERGjv3r1av369fHx87O1169bVvHnz0rQ4AAAAuA+nl4v65ptvNG/ePFWpUsVh3dKSJUvq+PHjaVocAAAA3IfTI6ZXr15VUFBQkvbbt2+zwD4AAABSzelgWqFCBX3//ff27QdhdMaMGapatWraVQYAAAC34vSt/Pfff18NGjTQwYMHdf/+fU2YMEEHDx7U1q1btWHDhvSoEQAAAG7A6RHT6tWra8+ePbp//75Kly6tlStXKigoSD/++KPKly+fHjUCAADADTg9YipJhQoV0vTp09O6FgAAALixFAXTqKgoZc6c2f7nv/OgHwAAAOCMFAXTrFmz6uLFiwoKClKWLFmSffreGCObzaaEhIQ0LxIAAACPvxQF07Vr1ypbtmySpHXr1qVrQQAAAHBPKQqmtWrVUuvWrTVt2jTVqlUrvWsCAACAG0rxU/nnzp1TyZIlHdYwBQAAANJKioPpli1b9Nprr6lVq1Z66aWXFBMTk551AQAAwM2keLkom82m119/XY0bN1bnzp1VunRp9enTR56ejqfo27dvmhcJAACAx5/T65gWK1ZMXbt21csvv6xx48Y5BFObzUYwBQAAQKo4FUwvX76sl156SZs3b9bMmTPVsWPH9KoLAAAAbibFc0znzp2rkiVLKjY2Vnv37iWUAgAAIE2lOJh27dpVQ4cO1erVq5U3b970rAkAAABuKMW38vfs2aPChQunZy0AAABwYykeMSWUAgAAID2lOJgCAAAA6YlgCgAAAEsgmAIAAMASUhVMb968qRkzZigiIkK//fabJGnXrl06f/58mhYHAAAA9+H0b3765ZdfVLduXQUGBurUqVPq1q2bsmXLpsWLF+vMmTP64osv0qNOAAAAPOacHjHt37+/OnXqpKNHj8rHx8fe3rBhQ23cuDFNiwMAAID7cDqYbt++XT169EjS/sQTT+jSpUtpUhQAAADcj9PB1NvbW1FRUUnaf/31V+XMmTNNigIAAID7cTqYNmnSRMOHD9e9e/ckSTabTWfOnNGgQYPUokWLNC8QAAAA7sHpYDpmzBjFxMQoKChIsbGxqlWrlsLCwpQpUya999576VEjAAAA3IDTT+UHBgZq1apV2rx5s3755RfFxMSoXLlyqlu3bnrUBwAAADfhdDB9oHr16qpevXpa1gIAAAA35nQw/eijj5Jtt9ls8vHxUVhYmGrWrCkPD49/XRwAAADch9PBdNy4cbp69aru3LmjrFmzSpJu3LghPz8/BQQE6MqVKypYsKDWrVun0NDQNC8YAAAAjyenH356//33VbFiRR09elTXr1/X9evX9euvv6py5cqaMGGCzpw5o+DgYL322mvpUS8AAAAeU06PmP7vf//TokWLVKhQIXtbWFiYPvzwQ7Vo0UInTpzQ6NGjWToKAAAATnF6xPTixYu6f/9+kvb79+/bf/NT7ty5FR0d/e+rAwAAgNtwOpjWqVNHPXr00O7du+1tu3fv1iuvvKKnn35akrRv3z4VKFAg7aoEAADAY8/pYDpz5kxly5ZN5cuXl7e3t7y9vVWhQgVly5ZNM2fOlCQFBARozJgxaV4sAAAAHl9OzzENDg7WqlWrdPjwYf3666+SpKJFi6po0aL2PnXq1Em7CgEAAOAWUr3AfrFixVSsWLG0rAUAAABuLFXB9Ny5c1qyZInOnDmj+Ph4h31jx45Nk8IAAADgXpwOpmvWrFGTJk1UsGBBHT58WKVKldKpU6dkjFG5cuXSo0YAAAC4AacffoqIiNDAgQO1b98++fj4aNGiRTp79qxq1aqlVq1apUeNAAAAcANOB9NDhw6pQ4cOkiRPT0/FxsYqICBAw4cP16hRo9K8QAAAALgHp4Opv7+/fV5pSEiIjh8/bt937dq1tKsMAAAAbsXpOaZVqlTR5s2bVbx4cTVs2FADBgzQvn37tHjxYlWpUiU9agQAAIAbcHrEdOzYsapcubIkadiwYXrmmWc0b9485c+f377AfkqNGDFCFStWVKZMmRQUFKRmzZrpyJEjzpYEAACAx4BTI6YJCQk6d+6cypQpI+n32/pTp05N9cU3bNigXr16qWLFirp//74GDx6sevXq6eDBg/L390/1eQEAAPDocSqYenh4qF69ejp06JCyZMnyry++fPlyh+1Zs2YpKChIO3fuVM2aNf/1+QEAAPDocHqOaalSpXTixAkVKFAgzYu5deuWJClbtmzJ7o+Li1NcXJx9OyoqKs1rAAAAgGs4Pcf03Xff1cCBA7V06VJdvHhRUVFRDq/USkxM1KuvvqqnnnpKpUqVSrbPiBEjFBgYaH+Fhoam+noAAACwFqdHTBs2bChJatKkiWw2m73dGCObzaaEhIRUFdKrVy/t379fmzdv/ss+ERER6t+/v307KiqKcAoAAPCYcDqYrlu3Ls2L6N27t5YuXaqNGzcqT548f9nP29tb3t7eaX59AAAAuJ7TwbRWrVppdnFjjPr06aOvv/5a69evT5d5qwAAAHg0OD3HVJI2bdqkdu3aqVq1ajp//rwkafbs2X97Gz45vXr10pdffqmvvvpKmTJl0qVLl3Tp0iXFxsampiwAAAA8wpwOposWLVJ4eLh8fX21a9cu+1Pyt27d0vvvv+/UuaZMmaJbt26pdu3aCgkJsb/mzZvnbFkAAAB4xKXqqfypU6dq+vTp8vLysrc/9dRT2rVrl1PnMsYk++rUqZOzZQEAAOAR53QwPXLkSLKL3wcGBurmzZtpURMAAADckNPBNDg4WMeOHUvSvnnzZhUsWDBNigIAAID7cTqYduvWTf369dPPP/8sm82mCxcuKDIyUgMHDtQrr7ySHjUCAADADTi9XNT//d//KTExUc8884zu3LmjmjVrytvbWwMHDlSfPn3So0YAAAC4AaeDqc1m05tvvqnXX39dx44dU0xMjEqUKKGAgID0qA8AAABuwulb+V9++aXu3LmjjBkzqkSJEqpUqRKhFAAAAP+a08H0tddeU1BQkF588UX98MMPSkhISI+6AAAA4GacDqYXL17U3LlzZbPZ1Lp1a4WEhKhXr17aunVretQHAAAAN+F0MPX09NRzzz2nyMhIXblyRePGjdOpU6dUp04dFSpUKD1qBAAAgBtw+uGnP/Lz81N4eLhu3Lih06dP69ChQ2lVFwAAANyM0yOmknTnzh1FRkaqYcOGeuKJJzR+/Hg1b95cBw4cSOv6AAAA4CacHjF94YUXtHTpUvn5+al169YaMmSIqlatmh61AQAAwI04HUw9PDw0f/58hYeHy8PDw2Hf/v37VapUqTQrDgAAAO7D6WAaGRnpsB0dHa05c+ZoxowZ2rlzJ8tHAQAAIFVSNcdUkjZu3KiOHTsqJCREH374oZ5++mn99NNPaVkbAAAA3IhTI6aXLl3SrFmzNHPmTEVFRal169aKi4vTN998oxIlSqRXjQAAAHADKR4xbdy4sYoWLapffvlF48eP14ULFzRx4sT0rA0AAABuJMUjpsuWLVPfvn31yiuvqHDhwulZEwAAANxQikdMN2/erOjoaJUvX16VK1fWpEmTdO3atfSsDQAAAG4kxcG0SpUqmj59ui5evKgePXpo7ty5yp07txITE7Vq1SpFR0enZ50AAAB4zDn9VL6/v7+6dOmizZs3a9++fRowYIBGjhypoKAgNWnSJD1qBAAAgBtI9XJRklS0aFGNHj1a586d05w5c9KqJgAAALihfxVMH/Dw8FCzZs20ZMmStDgdAAAA3FCaBFMAAADg3yKYAgAAwBIIpgAAALAEgikAAAAsgWAKAAAASyCYAgAAwBIIpgAAALAEgikAAAAsgWAKAAAASyCYAgAAwBIIpgAAALAEgikAAAAsgWAKAAAASyCYAgAAwBIIpgAAALAEgikAAAAsgWAKAAAASyCYAgAAwBIIpgAAALAEgikAAAAsgWAKAAAASyCYAgAAwBIIpgAAALAEgikAAAAsgWAKAAAASyCYAgAAwBIIpgAAALAEgikAAAAsgWAKAAAASyCYAgAAwBIIpgAAALAElwbTjRs3qnHjxsqdO7dsNpu++eYbV5YDAAAAF3JpML19+7bKli2ryZMnu7IMAAAAWICnKy/eoEEDNWjQwJUlAAAAwCJcGkydFRcXp7i4OPt2VFSUC6sBAABAWnqkHn4aMWKEAgMD7a/Q0FBXlwQAAIA08kgF04iICN26dcv+Onv2rKtLAgAAQBp5pG7le3t7y9vb29VlAAAAIB08UiOmAAAAeHy5dMQ0JiZGx44ds2+fPHlSe/bsUbZs2ZQ3b14XVgYAAICHzaXBdMeOHapTp459u3///pKkjh07atasWS6qCgAAAK7g0mBau3ZtGWNcWQIAAAAsgjm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zBEsF08uTJyp8/v3x8fFS5cmVt27bN1SUBAADgIXN5MJ03b5769++voUOHateuXSpbtqzCw8N15coVV5cGAACAh8jlwXTs2LHq1q2bOnfurBIlSmjq1Kny8/PTp59+6urSAAAA8BB5uvLi8fHx2rlzpyIiIuxtGTJkUN26dfXjjz8m6R8XF6e4uDj79q1btyRJUVFRaVpXQlxsmp4P+LfS+u94euB7AyviuwM4L62/Nw/OZ4z5x74uDabXrl1TQkKCcuXK5dCeK1cuHT58OEn/ESNGaNiwYUnaQ0ND061GwAoCJ77s6hKARxLfHcB56fW9iY6OVmBg4N/2cWkwdVZERIT69+9v305MTNRvv/2m7Nmzy2azubAy/FlUVJRCQ0N19uxZZc6c2dXlAI8MvjtA6vDdsS5jjKKjo5U7d+5/7OvSYJojRw55eHjo8uXLDu2XL19WcHBwkv7e3t7y9vZ2aMuSJUt6loh/KXPmzPwDAaQC3x0gdfjuWNM/jZQ+4NKHnzJmzKjy5ctrzZo19rbExEStWbNGVatWdWFlAAAAeNhcfiu/f//+6tixoypUqKBKlSpp/Pjxun37tjp37uzq0gAAAPAQuTyYPv/887p69areeustXbp0SU8++aSWL1+e5IEoPFq8vb01dOjQJFMvAPw9vjtA6vDdeTzYTEqe3QcAAADSmcsX2AcAAAAkgikAAAAsgmAKAAAASyCYwim1a9fWq6++mi7n7tSpk5o1a2bfNsaoe/fuypYtm2w2m/bs2ZMu1wWsLCXfufz582v8+PEPpR7gUfHnnynJSc+faUgdgikcJPdFXrhwoXx8fDRmzJh0vfaECRM0a9Ys+/by5cs1a9YsLV26VBcvXlSpUqXS9fpAWuvUqZNsNptsNpu8vLxUoEABvfHGG7p7926aXmf79u3q3r17mp4TcJX169fbvzfJverUqZOi8/z5ZwoeDS5fLgrWNmPGDPXq1UtTp05V586d9d1336X5NRISEmSz2ZL8Vojjx48rJCRE1apVS/NrAg9L/fr19dlnn+nevXvauXOnOnbsKJvNplGjRqXZNXLmzJlm5wJcrVq1arp48WKS9iVLlujll19Wz549U3SelP6mIVgLI6b4S6NHj1afPn00d+5ch194kJiYqDfeeEPZsmVTcHCw3n77bYfjxo4dq9KlS8vf31+hoaHq2bOnYmJi7PtnzZqlLFmyaMmSJSpRooS8vb115swZh9HaTp06qU+fPjpz5oxsNpvy58//EN4xkPa8vb0VHBys0NBQNWvWTHXr1tWqVaskSdevX1ebNm30xBNPyM/PT6VLl9acOXOSnOP+/fvq3bu3AgMDlSNHDg0ZMkR/XOmPW/l4nGTMmFHBwcEOrxs3bmjgwIEaPHiwWrVqpYSEBHXt2lUFChSQr6+vihYtqgkTJjic5893AG/fvq0OHTooICBAISEh6X4XEKlDMEWyBg0apHfeeUdLly5V8+bNHfZ9/vnn8vf3188//6zRo0dr+PDh9h+0kpQhQwZ99NFHOnDggD7//HOtXbtWb7zxhsM57ty5o1GjRmnGjBk6cOCAgoKCHPZPmDBBw4cPV548eXTx4kVt3749/d4s8JDs379fW7duVcaMGSVJd+/eVfny5fX9999r//796t69u9q3b69t27Y5HPf555/L09NT27Zt04QJEzR27FjNmDHDFW8BeOhu3ryppk2bqnbt2nrnnXck/T5AkidPHi1YsEAHDx7UW2+9pcGDB2v+/Pl/eZ7XX39dGzZs0LfffquVK1dq/fr12rVr18N6G0gpA/xBx44dTcaMGY0ks2bNmiT7a9WqZapXr+7QVrFiRTNo0KC/POeCBQtM9uzZ7dufffaZkWT27NmT5NpNmza1b48bN87ky5cvdW8EsICOHTsaDw8P4+/vb7y9vY0kkyFDBrNw4cK/PKZRo0ZmwIAB9u1atWqZ4sWLm8TERHvboEGDTPHixe3b+fLlM+PGjUuX9wC4UkJCgmnQoIEpXry4iYqK+tu+vXr1Mi1atLBv//FnSnR0tMmYMaOZP3++ff/169eNr6+v6devX3qUjlRijimSKFOmjK5du6ahQ4eqUqVKCggISLL/j0JCQnTlyhX79urVqzVixAgdPnxYUVFRun//vu7evas7d+7Iz89P0u+3av58HuBxVKdOHU2ZMkW3b9/WuHHj5OnpqRYtWkj6fX71+++/r/nz5+v8+fOKj49XXFyc/XvyQJUqVWSz2ezbVatW1ZgxY5SQkCAPD4+H+n6Ah2nw4MH68ccftW3bNmXKlMlh3+TJk/Xpp5/qzJkzio2NVXx8vJ588slkz3P8+HHFx8ercuXK9rZs2bKpaNGi6Vk+UoFb+UjiiSee0Pr163X+/HnVr19f0dHRDvu9vLwctm02mxITEyVJp06d0nPPPacyZcpo0aJF2rlzpyZPnixJio+Ptx/j6+vr8IMWeFz5+/srLCxMZcuW1aeffqqff/5ZM2fOlCR98MEHmjBhggYNGqR169Zpz549Cg8Pd/iuAO5q7ty5+vDDDzV37lwVLlw4yb6BAweqa9euWrlypfbs2aPOnTvz3XkMEEyRrHz58mnDhg26dOlSsuH0r+zcuVOJiYkaM2aMqlSpoiJFiujChQvpXC3waMiQIYMGDx6s//3vf4qNjdWWLVvUtGlTtWvXTmXLllXBggX166+/Jjnu559/dtj+6aefVLhwYUZL8djas2ePunbtqpEjRyo8PDzJ/i1btqhatWrq2bOn/vOf/ygsLEzHjx//y/MVKlRIXl5eDt+lGzduJPt9g2sRTPGXQkNDtX79el25ckXh4eGKior6x2PCwsJ07949TZw4USdOnNDs2bM1derUh1At8Gho1aqVPDw8NHnyZBUuXFirVq3S1q1bdejQIfXo0UOXL19OcsyZM2fUv39/HTlyRHPmzNHEiRPVr18/F1QPpL9r166pWbNmql27ttq1a6dLly45vK5evarChQtrx44dWrFihX799VcNGTLkbx+SDQgIUNeuXfX6669r7dq12r9/vzp16qQMGYhBVsMcU/ytPHnyaP369apTp47Cw8MVFxf3t/3Lli2rsWPHatSoUYqIiFDNmjU1YsQIdejQ4SFVDFibp6enevfurdGjR2v37t06ceKEwsPD5efnp+7du6tZs2a6deuWwzEdOnRQbGysKlWqJA8PD/Xr148F9fHY+v7773X69GmdPn1aISEhSfbny5dPR44c0e7du/X888/LZrOpTZs26tmzp5YtW/aX5/3ggw8UExOjxo0bK1OmTBowYECS7xpcz2bMHxbDAwAAAFyEMWwAAABYAsEUAAAAlkAwBQAAgCUQTAEAAGAJBFMAAABYAsEUAAAAlkAwBQAAgCUQTAEAAGAJBFMAAABYAsEUAFLh6tWreuWVV5Q3b155e3srODhY4eHh2rJli6tLA4BHlqerCwCAR1GLFi0UHx+vzz//XAULFtTly5e1Zs0aXb9+3dWlAcAjixFTAHDSzZs3tWnTJo0aNUp16tRRvnz5VKlSJUVERKhJkyb2Pi+99JJy5sypzJkz6+mnn9bevXvt5zh+/LiaNm2qXLlyKSAgQBUrVtTq1asdrvPxxx+rcOHC8vHxUa5cudSyZUv7vri4OPXt21dBQUHy8fFR9erVtX37dvv+9evXy2azac2aNapQoYL8/PxUrVo1HTlyJJ0/HQBIPYIpADgpICBAAQEB+uabbxQXF5dsn1atWunKlStatmyZdu7cqXLlyumZZ57Rb7/9JkmKiYlRw4YNtWbNGu3evVv169dX48aNdebMGUnSjh071LdvXw0fPlxHjhzR8uXLVbNmTfv533jjDS1atEiff/65du3apbCwMIWHh9vP/8Cbb76pMWPGaMeOHfL09FSXLl3S6VMBgDRgAABOW7hwocmaNavx8fEx1apVMxEREWbv3r3GGGM2bdpkMmfObO7evetwTKFChcy0adP+8pwlS5Y0EydONMYYs2jRIpM5c2YTFRWVpF9MTIzx8vIykZGR9rb4+HiTO3duM3r0aGOMMevWrTOSzOrVq+19vv/+eyPJxMbGpv6NA0A6YsQUAFKhRYsWunDhgpYsWaL69etr/fr1KleunGbNmqW9e/cqJiZG2bNnt4+uBgQE6OTJkzp+/Lik30dMBw4cqOLFiytLliwKCAjQoUOH7COmzz77rPLly6eCBQuqffv2ioyM1J07dyT9Pg3g3r17euqpp+z1eHl5qVKlSjp06JBDnWXKlLH/OSQkRJJ05cqVdP1sACC1ePgJAFLJx8dHzz77rJ599lkNGTJEL730koYOHaqePXsqJCRE69evT3JMlixZJEkDBw7UqlWr9OGHHyosLEy+vr5q2bKl4uPjJUmZMmXSrl27tH79eq1cuVJvvfWW3n77bYd5pCnh5eVl/7PNZpMkJSYmpu4NA0A6Y8QUANJIiRIldPv2bZUrV06XLl2Sp6enwsLCHF45cuSQJG3ZskWdOnVS8+bNVbp0aQUHB+vUqVMO5/P09FTdunU1evRo/fLLLzp16pTWrl2rQoUKKWPGjA5LU927d0/bt29XiRIlHuZbBoA0xYgpADjp+vXratWqlbp06aIyZcooU6ZM2rFjh0aPHq2mTZuqbt26qlq1qpo1a6bRo0erSJEiunDhgr7//ns1b95cFSpUUOHChbV48WI1btxYNptNQ4YMcRjJXLp0qU6cOKGaNWsqa9as+uGHH5SYmKiiRYvK399fr7zyil5//XVly5ZNefPm1ejRo3Xnzh117drVhZ8MAPw7BFMAcFJAQIAqV66scePG2ed7hoaGqlu3bho8eLBsNpt++OEHvfnmm+rcubOuXr2q4OBg1axZU7ly5ZIkjR07Vl26dFG1atWUI0cODRo0SFFRUfZrZMmSRYsXL9bbb7+tu3fvqnDhwpozZ45KliwpSRo5cqQSExPVvn17RUdHq0KFClqxYoWyZs3qks8EANKCzRhjXF0EAAAAwBxTAAAAWALBFAAAAJZAMAUAAIAlEEwBAABgCQRTAAAAWALBFAAAAJZAMAUAAIAlEEwBAABgCQRTAAAAWALBFAAAAJZAMAUAAIAl/D8xJgGM75WJZQ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data:image/png;base64,iVBORw0KGgoAAAANSUhEUgAAAqYAAAHWCAYAAAClsUvDAAAAOnRFWHRTb2Z0d2FyZQBNYXRwbG90bGliIHZlcnNpb24zLjEwLjAsIGh0dHBzOi8vbWF0cGxvdGxpYi5vcmcvlHJYcgAAAAlwSFlzAAAPYQAAD2EBqD+naQAAQI9JREFUeJzt3Xd0FNX///HXkoRUCDUkSKihNz90kKpIKNI+FEU6CChVAeUb/CCChaI0AQEBRTHSURGl96LSkS69d4EkEBJI7u8PD/tzTdRsTNiBfT7O2XOYO3dm3ruy5OWdOzc2Y4wRAAAA4GIZXF0AAAAAIBFMAQAAYBEEUwAAAFgCwRQAAACWQDAFAACAJRBMAQAAYAkEUwAAAFgCwRQAAACWQDAFAACAJRBMASCNzJo1SzabTadOnXL62Lfffls2my1FfW02m95+++2/7bN+/XrZbDYtXLjQ6VoAwFUIpgDsPv74Y9lsNlWuXNnVpVjGjz/+qAwZMigiIiLZ/aNGjZLNZtP333//kCuzjs2bN6tBgwZ64okn5OPjo7x586px48b66quvXF0agEcMwRSAXWRkpPLnz69t27bp2LFjri7HEqpWraoePXpozJgxOnDggMO+06dPa/jw4WrVqpUaNWqk9u3bKzY2Vvny5XNRtQ/fggULVLNmTV2+fFn9+vXTxIkT1a5dO924cUPTp093dXkAHjGeri4AgDWcPHlSW7du1eLFi9WjRw9FRkZq6NChD7WGxMRExcfHy8fH56Fe95+MHDlS3377rXr06KFNmzbZb7n36dNHXl5emjBhgiTJw8NDHh4eriz1oXv77bdVokQJ/fTTT8qYMaPDvitXrrioKgCPKkZMAUj6fbQ0a9asatSokVq2bKnIyEj7vnv37ilbtmzq3LlzkuOioqLk4+OjgQMH2tvi4uI0dOhQhYWFydvbW6GhoXrjjTcUFxfncKzNZlPv3r0VGRmpkiVLytvbW8uXL5ckffjhh6pWrZqyZ88uX19flS9fPtn5krGxserbt69y5MihTJkyqUmTJjp//nyy8zDPnz+vLl26KFeuXPL29lbJkiX16aef/uNnExgYqAkTJmjLli2aMWOGJOnrr7/Wd999p5EjRyokJETSX88xXbZsmWrUqCF/f39lypRJjRo1SjL6mpy4uDi99tprypkzp/29nTt37h+P+6OEhAQNHjxYwcHB8vf3V5MmTXT27Fn7/qFDh8rLy0tXr15Ncmz37t2VJUsW3b179y/Pf/z4cVWsWDFJKJWkoKAgh+3ExESNHz9eJUuWlI+Pj3LlyqUePXroxo0bDv2+/fZbNWrUSLlz55a3t7cKFSqkd955RwkJCQ79jh49qhYtWig4OFg+Pj7KkyePXnjhBd26dcve5/79+3rnnXdUqFAheXt7K3/+/Bo8eHCSv4v58+fXc889p82bN6tSpUry8fFRwYIF9cUXX/zleweQDgwAGGOKFStmunbtaowxZuPGjUaS2bZtm31/ly5dTJYsWUxcXJzDcZ9//rmRZLZv326MMSYhIcHUq1fP+Pn5mVdffdVMmzbN9O7d23h6epqmTZs6HCvJFC9e3OTMmdMMGzbMTJ482ezevdsYY0yePHlMz549zaRJk8zYsWNNpUqVjCSzdOlSh3O0bt3aSDLt27c3kydPNq1btzZly5Y1kszQoUPt/S5dumTy5MljQkNDzfDhw82UKVNMkyZNjCQzbty4FH1GjRo1MlmzZjXHjx83oaGhplq1aiYxMdG+/7PPPjOSzMmTJ+1tX3zxhbHZbKZ+/fpm4sSJZtSoUSZ//vwmS5YsDv2GDh1q/vxPcrt27Ywk8+KLL5pJkyaZ//73v6ZMmTJJ3lty1q1bZySZ0qVLmzJlypixY8ea//u//zM+Pj6mSJEi5s6dO8YYY44ePWokmYkTJzocHxcXZ7JmzWq6dOnyt9cpUqSICQ0NNWfPnv3bfsYY89JLLxlPT0/TrVs3M3XqVDNo0CDj7+9vKlasaOLj4+39mjVrZlq3bm0++OADM2XKFNOqVSsjyQwcONChvgIFCpjcuXObd99918yYMcMMGzbMVKxY0Zw6dcrer2PHjkaSadmypZk8ebLp0KGDkWSaNWvmUFu+fPlM0aJFTa5cuczgwYPNpEmTTLly5YzNZjP79+//x/cGIG0QTAGYHTt2GElm1apVxhhjEhMTTZ48eUy/fv3sfVasWGEkme+++87h2IYNG5qCBQvat2fPnm0yZMhgNm3a5NBv6tSpRpLZsmWLvU2SyZAhgzlw4ECSmh4Epwfi4+NNqVKlzNNPP21v27lzp5FkXn31VYe+nTp1ShLeunbtakJCQsy1a9cc+r7wwgsmMDAwyfWSc+rUKePv72+yZctmvLy8zL59+xz2/zmYRkdHmyxZsphu3bo59Lt06ZIJDAx0aP9zMN2zZ4+RZHr27Olw7IsvvuhUMH3iiSdMVFSUvX3+/PlGkpkwYYK9rWrVqqZy5coOxy9evNhIMuvWrfvb68ycOdNIMhkzZjR16tQxQ4YMMZs2bTIJCQkO/TZt2mQkmcjISIf25cuXJ2lP7r9Fjx49jJ+fn7l7964xxpjdu3cbSWbBggV/WduDz/Cll15yaB84cKCRZNauXWtvy5cvn5FkNm7caG+7cuWK8fb2NgMGDPjbzwBA2uFWPgBFRkYqV65cqlOnjqTfb7E///zzmjt3rv326dNPP60cOXJo3rx59uNu3LihVatW6fnnn7e3LViwQMWLF1exYsV07do1++vpp5+WJK1bt87h2rVq1VKJEiWS1OTr6+twnVu3bqlGjRratWuXvf3Bbf+ePXs6HNunTx+HbWOMFi1apMaNG8sY41BXeHi4bt265XDev5IvXz4NHTpUv/32m/r3769SpUr9bf9Vq1bp5s2batOmjcM1PTw8VLly5SSfxR/98MMPkqS+ffs6tL/66qv/WOcfdejQQZkyZbJvt2zZUiEhIfbzP+jz888/6/jx4/a2yMhIhYaGqlatWn97/i5dumj58uWqXbu2Nm/erHfeeUc1atRQ4cKFtXXrVnu/BQsWKDAwUM8++6zDZ1G+fHkFBAQ4fBZ//G8fHR2ta9euqUaNGrpz544OHz4s6ffpFZK0YsUK3blzJ9naHrzH/v37O7QPGDBAkpKspFCiRAnVqFHDvp0zZ04VLVpUJ06c+NvPAEDaIZgCbi4hIUFz585VnTp1dPLkSR07dkzHjh1T5cqVdfnyZa1Zs0aS5OnpqRYtWujbb7+1z89bvHix7t275xBMjx49qgMHDihnzpwOryJFikhK+kBMgQIFkq1r6dKlqlKlinx8fJQtWzblzJlTU6ZMcZg/ePr0aWXIkCHJOcLCwhy2r169qps3b+qTTz5JUteDebMpfVCnYsWKkqQKFSr8Y9+jR49K+j3U//m6K1eu/NtrPnhvhQoVcmgvWrRoiup8oHDhwg7bNptNYWFhDvNgn3/+eXl7e9vnFd+6dUtLly5V27ZtU7S2anh4uFasWKGbN29q48aN6tWrl06fPq3nnnvO/h6PHj2qW7duKSgoKMlnERMT4/BZHDhwQM2bN1dgYKAyZ86snDlzql27dvbapN//3vTv318zZsxQjhw5FB4ersmTJyf79+PPfx+Cg4OVJUsWnT592qE9b968Sd5b1qxZk8yBBZB+eCofcHNr167VxYsXNXfuXM2dOzfJ/sjISNWrV0+S9MILL2jatGlatmyZmjVrpvnz56tYsWIqW7asvX9iYqJKly6tsWPHJnu90NBQh+0/jo49sGnTJjVp0kQ1a9bUxx9/rJCQEHl5eemzzz5L1dqYiYmJkqR27dqpY8eOyfYpU6aM0+dN6XVnz56t4ODgJPs9Pa3xT3DWrFn13HPPKTIyUm+99ZYWLlyouLg4exhMKT8/P9WoUUM1atRQjhw5NGzYMC1btkwdO3ZUYmKigoKCHB6q+6OcOXNKkm7evKlatWopc+bMGj58uAoVKiQfHx/t2rVLgwYNsn+mkjRmzBh16tRJ3377rVauXKm+fftqxIgR+umnn5QnTx57v5T+4oK/WlHBGJPSjwDAv2SNfxUBuExkZKSCgoI0efLkJPsWL16sr7/+WlOnTpWvr69q1qypkJAQzZs3T9WrV9fatWv15ptvOhxTqFAh7d27V88880yKA8GfLVq0SD4+PlqxYoW8vb3t7Z999plDv3z58ikxMVEnT550GBn88xqsD55qT0hIUN26dVNVU2o8GO0MCgpy+roP3tvx48cdRkmPHDni1HkejNo+YIzRsWPHkgTxDh06qGnTptq+fbsiIyP1n//8RyVLlnTqWn/0YET54sWLkn7/LFavXq2nnnoq2f8ZeWD9+vW6fv26Fi9erJo1a9rbT548mWz/0qVLq3Tp0vrf//6nrVu36qmnntLUqVP17rvv2j/Do0ePqnjx4vZjLl++rJs3b7rVerPAo4Jb+YAbi42N1eLFi/Xcc8+pZcuWSV69e/dWdHS0lixZIknKkCGDWrZsqe+++06zZ8/W/fv3HW7jS1Lr1q11/vz5ZBdXj42N1e3bt/+xLg8PD9lsNoflgU6dOqVvvvnGoV94eLik339j1R9NnDgxyflatGihRYsWaf/+/Umul9xSSWkhPDxcmTNn1vvvv6979+45dd0GDRpIkj766COH9vHjxztVwxdffKHo6Gj79sKFC3Xx4kX7+f94vRw5cmjUqFHasGFDikdLH0z1+LMH8zsfhOrWrVsrISFB77zzTpK+9+/f182bNyX9/1HLP45SxsfHJ/lvHBUVpfv37zu0lS5dWhkyZLBPNWnYsKGkpJ/Zg9H8Ro0a/eP7A/BwMWIKuLElS5YoOjpaTZo0SXZ/lSpVlDNnTkVGRtoD6PPPP6+JEydq6NChKl26tMNIlCS1b99e8+fP18svv6x169bpqaeeUkJCgg4fPqz58+drxYoV/zg/s1GjRho7dqzq16+vF198UVeuXNHkyZMVFhamX375xd6vfPnyatGihcaPH6/r16+rSpUq2rBhg3799VdJjrdwR44cqXXr1qly5crq1q2bSpQood9++027du3S6tWr9dtvv6XqM/w7mTNn1pQpU9S+fXuVK1dOL7zwgnLmzKkzZ87o+++/11NPPaVJkyYle+yTTz6pNm3a6OOPP9atW7dUrVo1rVmzxunfyJUtWzZVr15dnTt31uXLlzV+/HiFhYWpW7duDv28vLz0wgsvaNKkSfLw8FCbNm1SdP6mTZuqQIECaty4sQoVKqTbt29r9erV+u6771SxYkU1btxY0u8PufXo0UMjRozQnj17VK9ePXl5eeno0aNasGCBJkyYoJYtW6patWrKmjWrOnbsqL59+8pms2n27NlJbqevXbtWvXv3VqtWrVSkSBHdv39fs2fPtv9PiCSVLVtWHTt21CeffGKfIrBt2zZ9/vnnatasmf1hPwAW4solAQC4VuPGjY2Pj4+5ffv2X/bp1KmT8fLysi+zlJiYaEJDQ40k8+677yZ7THx8vBk1apQpWbKk8fb2NlmzZjXly5c3w4YNM7du3bL3k2R69eqV7DlmzpxpChcubLy9vU2xYsXMZ599luxan7dv3za9evUy2bJlMwEBAaZZs2bmyJEjRpIZOXKkQ9/Lly+bXr16mdDQUOPl5WWCg4PNM888Yz755JMUfV7G/P9lmJJbpii5dUwfHBMeHm4CAwONj4+PKVSokOnUqZPZsWOHvU9y7y02Ntb07dvXZM+e3fj7+5vGjRubs2fPOrVc1Jw5c0xERIQJCgoyvr6+plGjRub06dPJHrNt2zYjydSrVy9lH4YxZs6cOeaFF14whQoVMr6+vsbHx8eUKFHCvPnmmw7LVD3wySefmPLlyxtfX1+TKVMmU7p0afPGG2+YCxcu2Pts2bLFVKlSxfj6+prcuXObN954w75c2YPlq06cOGG6dOliChUqZHx8fEy2bNlMnTp1zOrVqx2ud+/ePTNs2DBToEAB4+XlZUJDQ01ERIR92akH8uXLZxo1apSk3lq1aplatWql+PMA8O/YjGFWN4DHy549e/Sf//xHX375pdq2bevqch4Ze/fu1ZNPPqkvvvhC7du3d3U5ANwQc0wBPNJiY2OTtI0fP14ZMmRweHgG/2z69OkKCAjQf//7X1eXAsBNMccUwCNt9OjR2rlzp+rUqSNPT08tW7ZMy5YtU/fu3ZMsTYXkfffddzp48KA++eQT9e7dW/7+/q4uCYCb4lY+gEfaqlWrNGzYMB08eFAxMTHKmzev2rdvrzfffNMy64RaXf78+XX58mWFh4dr9uzZDr8pCgAeJoIpAAAALIE5pgAAALAEgikAAAAs4ZGegJWYmKgLFy4oU6ZMqf7VhwAAAEg/xhhFR0crd+7cypDh78dEH+lgeuHCBZ66BQAAeAScPXtWefLk+ds+j3QwffDk6NmzZ5U5c2YXVwMAAIA/i4qKUmhoaIpW/Hikg+mD2/eZM2cmmAIAAFhYSqZd8vATAAAALIFgCgAAAEsgmAIAAMASCKYAAACwBIIpAAAALIFgCgAAAEsgmAIAAMASCKYAAACwBIIpAAAALIFgCgAAAEsgmAIAAMASCKYAAACwBIIpAAAALIFgCgAAAEsgmAIAAMASPF1dgBWVf/0LV5cAONj5QQdXlwAAQLpjxB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gCwRQAAACWQDAFAACAJRBMAQAAYAkEUwAAAFiCp6sLAPB4KP/6F64uAUhi5wcdXF0CACe4dMT07bffls1mc3gVK1bMlSUBAADARVw+YlqyZEmtXr3avu3p6fKSAAAA4AIuT4Genp4KDg52dRkAAABwMZc//HT06FHlzp1bBQsWVNu2bXXmzJm/7BsXF6eoqCiHFwAAAB4PLg2mlStX1qxZs7R8+XJNmTJFJ0+eVI0aNRQdHZ1s/xEjRigwMND+Cg0NfcgVAwAAIL24NJg2aNBArVq1UpkyZRQeHq4ffvhBN2/e1Pz585PtHxERoVu3btlfZ8+efcgVAwAAIL24fI7pH2XJkkVFihTRsWPHkt3v7e0tb2/vh1wVAAAAHgaXzzH9o5iYGB0/flwhISGuLgUAAAAPmUuD6cCBA7VhwwadOnVKW7duVfPmzeXh4aE2bdq4siwAAAC4gEtv5Z87d05t2rTR9evXlTNnTlWvXl0//fSTcubM6cqyAAAA4AIuDaZz58515eUBAABgIZaaYwoAAAD3RTAFAACAJRBMAQAAYAkEUwAAAFgCwRQAAACWQDAFAACAJRBMAQAAYAkEUwAAAFgCwRQAAACWQDAFAACAJRBMAQAAYAkEUwAAAFgCwRQAAACWQDAFAACAJRBMAQAAYAmeri4AAAB3Vv71L1xdAuBg5wcdXHZtRkwBAABgCQRTAAAAWALBFAAAAJZAMAUAAIAlEEwBAABgCQRTAAAAWALBFAAAAJZAMAUAAIAlEEwBAABgCQRTAAAAWALBFAAAAJZAMAUAAIAlEEwBAABgCQRTAAAAWALBFAAAAJZAMAUAAIAlEEwBAABgCQRTAAAAWALBFAAAAJZAMAUAAIAl/KtgGhcXl1Z1AAAAwM05FUyXLVumjh07qmDBgvLy8pKfn58yZ86sWrVq6b333tOFCxfSq04AAAA85lIUTL/++msVKVJEXbp0kaenpwYNGqTFixdrxYoVmjFjhmrVqqXVq1erYMGCevnll3X16tX0rhsAAACPGc+UdBo9erTGjRunBg0aKEOGpFm2devWkqTz589r4sSJ+vLLL/Xaa6+lbaUAAAB4rKUomP74448pOtkTTzyhkSNH/quCAAAA4J54Kh8AAACWkKIR0z87d+6clixZojNnzig+Pt5h39ixY9OkMAAAALgXp4PpmjVr1KRJExUsWFCHDx9WqVKldOrUKRljVK5cufSoEQAAAG7A6Vv5ERERGjhwoPbt2ycfHx8tWrRIZ8+eVa1atdSqVav0qBEAAABuwOlgeujQIXXo0EGS5OnpqdjYWAUEBGj48OEaNWpUmhcIAAAA9+B0MPX397fPKw0JCdHx48ft+65du5Z2lQEAAMCtOD3HtEqVKtq8ebOKFy+uhg0basCAAdq3b58WL16sKlWqpEeNAAAAcANOB9OxY8cqJiZGkjRs2DDFxMRo3rx5Kly4ME/kAwAAINWcDqYFCxa0/9nf319Tp05N04IAAADgnlhgHwAAAJaQ4hHTrFmzymaz/WO/33777V8VBAAAAPeU4mA6fvx4+5+NMXrllVc0fPhwBQUFpUddAAAAcDMpDqYdO3Z02O7Tp49atGjhMOcUAAAASC3LzDEdOXKkbDabXn31VVeXAgAAABewRDDdvn27pk2bpjJlyri6FAAAALiIy4NpTEyM2rZtq+nTpytr1qyuLgcAAAAukuI5pv3793fYjo+P13vvvafAwECHdmcX2e/Vq5caNWqkunXr6t133/3bvnFxcYqLi7NvR0VFOXUtAAAAWFeKg+nu3bsdtqtVq6YTJ044tKVkOak/mjt3rnbt2qXt27enqP+IESM0bNgwp64BAACAR0OKg+m6devS9MJnz55Vv379tGrVKvn4+KTomIiICIeR26ioKIWGhqZpXQAAAHCNFAfTmjVrqmnTpmrSpIkKFy78ry+8c+dOXblyReXKlbO3JSQkaOPGjZo0aZLi4uLk4eHhcIy3t7e8vb3/9bUBAABgPSl++Klr167aunWrypUrp+LFi2vQoEHasmWLjDGpuvAzzzyjffv2ac+ePfZXhQoV1LZtW+3ZsydJKAUAAMDjzakF9jt27Ki4uDitWbNG3377rVq1aqWEhAQ1atRITZo0UXh4uHx9fVN0vkyZMqlUqVIObf7+/sqePXuSdgAAADz+nF4uytvbWw0bNtS0adN04cIFLVmyRCEhIRoyZIiyZ8+u5557Tlu2bEmPWgEAAPAYS/GI6V+pXLmyKleurPfee0/Hjx/XkiVLdPHixVSda/369f+2HAAAADyinA6mZ8+elc1mU548eSRJ27Zt01dffaUSJUqoe/fueu2119K8SAAAADz+nL6V/+KLL9qXjrp06ZLq1q2rbdu26c0339Tw4cPTvEAAAAC4B6eD6f79+1WpUiVJ0vz581W6dGlt3bpVkZGRmjVrVlrXBwAAADfhdDC9d++efS3R1atXq0mTJpKkYsWKpXpuKQAAAOB0MC1ZsqSmTp2qTZs2adWqVapfv74k6cKFC8qePXuaFwgAAAD34HQwHTVqlKZNm6batWurTZs2Klu2rCRpyZIl9lv8AAAAgLOcfiq/du3aunbtmqKiopQ1a1Z7e/fu3eXn55emxQEAAMB9OD1iKknGGO3cuVPTpk1TdHS0JCljxowEUwAAAKSa0yOmp0+fVv369XXmzBnFxcXp2WefVaZMmTRq1CjFxcVp6tSp6VEnAAAAHnNOj5j269dPFSpU0I0bN+Tr62tvb968udasWZOmxQEAAMB9OD1iumnTJm3dulUZM2Z0aM+fP7/Onz+fZoUBAADAvTg9YpqYmKiEhIQk7efOnVOmTJnSpCgAAAC4H6eDab169TR+/Hj7ts1mU0xMjIYOHaqGDRumZW0AAABwI07fyh8zZozCw8NVokQJ3b17Vy+++KKOHj2qHDlyaM6cOelRIwAAANyA08E0T5482rt3r+bOnatffvlFMTEx6tq1q9q2bevwMBQAAADgDKeDqSR5enqqXbt2aV0LAAAA3FiqgunRo0e1bt06XblyRYmJiQ773nrrrTQpDAAAAO7F6WA6ffp0vfLKK8qRI4eCg4Nls9ns+2w2G8EUAAAAqeJ0MH333Xf13nvvadCgQelRDwAAANyU08tF3bhxQ61atUqPWgAAAODGnA6mrVq10sqVK9OjFgAAALgxp2/lh4WFaciQIfrpp59UunRpeXl5Oezv27dvmhUHAAAA9+F0MP3kk08UEBCgDRs2aMOGDQ77bDYbwRQAAACp4nQwPXnyZHrUAQAAADfn9BxTAAAAID04PWKakJCgWbNmac2aNckusL927do0Kw4AAADuw+lg2q9fP82aNUuNGjVSqVKlHBbYBwAAAFLL6WA6d+5czZ8/Xw0bNkyPegAAAOCmnJ5jmjFjRoWFhaVHLQAAAHBjTgfTAQMGaMKECTLGpEc9AAAAcFNO38rfvHmz1q1bp2XLlqlkyZJJFthfvHhxmhUHAAAA9+F0MM2SJYuaN2+eHrUAAADAjTkdTD/77LP0qAMAAABuzulg+sDVq1d15MgRSVLRokWVM2fONCsKAAAA7sfph59u376tLl26KCQkRDVr1lTNmjWVO3dude3aVXfu3EmPGgEAAOAGnA6m/fv314YNG/Tdd9/p5s2bunnzpr799ltt2LBBAwYMSI8aAQAA4AacvpW/aNEiLVy4ULVr17a3NWzYUL6+vmrdurWmTJmSlvUBAADATTg9Ynrnzh3lypUrSXtQUBC38gEAAJBqTgfTqlWraujQobp79669LTY2VsOGDVPVqlXTtDgAAAC4jxTfyvfw8NDFixc1fvx41a9fX3ny5FHZsmUlSXv37pWPj49WrFiRboUCAADg8ZbiYPrgV5CWLl1aR48eVWRkpA4fPixJatOmjdq2bStfX9/0qRIAAACPvVStY+rn56du3bqldS0AAABwY04F0xkzZiggIOBv+/Tt2/dfFQQAAAD35FQwnTp1qjw8PP5yv81mI5gCAAAgVZwKpjt27FBQUFB61QIAAAA3luLlomw2W3rWAQAAADeX4mD64Kl8AAAAID2kOJgOHTr0Hx98AgAAAFIrRcH0zJkzGjp0qPz8/FJ00vPnz/+rogAAAOB+UhRMK1asqJdfflnbt2//yz63bt3S9OnTVapUKS1atCjNCgQAAIB7SNFT+QcPHtR7772nZ599Vj4+Pipfvrxy584tHx8f3bhxQwcPHtSBAwdUrlw5jR49Wg0bNkzvugEAAPCYSdGIafbs2TV27FhdvHhRkyZNUuHChXXt2jUdPXpUktS2bVvt3LlTP/74I6EUAAAAqeLUOqa+vr5q2bKlWrZsmV71AAAAwE2l+Kl8AAAAID25NJhOmTJFZcqUUebMmZU5c2ZVrVpVy5Ytc2VJAAAAcBGXBtM8efJo5MiR2rlzp3bs2KGnn35aTZs21YEDB1xZFgAAAFzAqTmmaa1x48YO2++9956mTJmin376SSVLlnRRVQAAAHAFlwbTP0pISNCCBQt0+/ZtVa1aNdk+cXFxiouLs29HRUU9rPIAAACQzlIUTJcsWZLiEzZp0sSpAvbt26eqVavq7t27CggI0Ndff60SJUok23fEiBEaNmyYU+cHAADAoyFFwbRZs2YO2zabTcYYh+0HEhISnCqgaNGi2rNnj27duqWFCxeqY8eO2rBhQ7LhNCIiQv3797dvR0VFKTQ01KnrAQAAwJpS9PBTYmKi/bVy5Uo9+eSTWrZsmW7evKmbN2/qhx9+ULly5bR8+XKnC8iYMaPCwsJUvnx5jRgxQmXLltWECROS7evt7W1/gv/BCwAAAI8Hp+eYvvrqq5o6daqqV69ubwsPD5efn5+6d++uQ4cO/auCEhMTHeaRAgAAwD04HUyPHz+uLFmyJGkPDAzUqVOnnDpXRESEGjRooLx58yo6OlpfffWV1q9frxUrVjhbFgAAAB5xTq9jWrFiRfXv31+XL1+2t12+fFmvv/66KlWq5NS5rly5og4dOqho0aJ65plntH37dq1YsULPPvuss2UBAADgEef0iOmnn36q5s2bK2/evPYHj86ePavChQvrm2++cepcM2fOdPbyAAAAeEw5HUzDwsL0yy+/aNWqVTp8+LAkqXjx4qpbt67D0/kAAACAM1K1wL7NZlO9evVUr169tK4HAAAAbipFwfSjjz5K8Qn79u2b6mIAAADgvlIUTMeNG5eik9lsNoIpAAAAUiVFwfTkyZPpXQcAAADcnNPLRT0QHx+vI0eO6P79+2lZDwAAANyU08H0zp076tq1q/z8/FSyZEmdOXNGktSnTx+NHDkyzQsEAACAe3A6mEZERGjv3r1av369fHx87O1169bVvHnz0rQ4AAAAuA+nl4v65ptvNG/ePFWpUsVh3dKSJUvq+PHjaVocAAAA3IfTI6ZXr15VUFBQkvbbt2+zwD4AAABSzelgWqFCBX3//ff27QdhdMaMGapatWraVQYAAAC34vSt/Pfff18NGjTQwYMHdf/+fU2YMEEHDx7U1q1btWHDhvSoEQAAAG7A6RHT6tWra8+ePbp//75Kly6tlStXKigoSD/++KPKly+fHjUCAADADTg9YipJhQoV0vTp09O6FgAAALixFAXTqKgoZc6c2f7nv/OgHwAAAOCMFAXTrFmz6uLFiwoKClKWLFmSffreGCObzaaEhIQ0LxIAAACPvxQF07Vr1ypbtmySpHXr1qVrQQAAAHBPKQqmtWrVUuvWrTVt2jTVqlUrvWsCAACAG0rxU/nnzp1TyZIlHdYwBQAAANJKioPpli1b9Nprr6lVq1Z66aWXFBMTk551AQAAwM2keLkom82m119/XY0bN1bnzp1VunRp9enTR56ejqfo27dvmhcJAACAx5/T65gWK1ZMXbt21csvv6xx48Y5BFObzUYwBQAAQKo4FUwvX76sl156SZs3b9bMmTPVsWPH9KoLAAAAbibFc0znzp2rkiVLKjY2Vnv37iWUAgAAIE2lOJh27dpVQ4cO1erVq5U3b970rAkAAABuKMW38vfs2aPChQunZy0AAABwYykeMSWUAgAAID2lOJgCAAAA6YlgCgAAAEsgmAIAAMASUhVMb968qRkzZigiIkK//fabJGnXrl06f/58mhYHAAAA9+H0b3765ZdfVLduXQUGBurUqVPq1q2bsmXLpsWLF+vMmTP64osv0qNOAAAAPOacHjHt37+/OnXqpKNHj8rHx8fe3rBhQ23cuDFNiwMAAID7cDqYbt++XT169EjS/sQTT+jSpUtpUhQAAADcj9PB1NvbW1FRUUnaf/31V+XMmTNNigIAAID7cTqYNmnSRMOHD9e9e/ckSTabTWfOnNGgQYPUokWLNC8QAAAA7sHpYDpmzBjFxMQoKChIsbGxqlWrlsLCwpQpUya999576VEjAAAA3IDTT+UHBgZq1apV2rx5s3755RfFxMSoXLlyqlu3bnrUBwAAADfhdDB9oHr16qpevXpa1gIAAAA35nQw/eijj5Jtt9ls8vHxUVhYmGrWrCkPD49/XRwAAADch9PBdNy4cbp69aru3LmjrFmzSpJu3LghPz8/BQQE6MqVKypYsKDWrVun0NDQNC8YAAAAjyenH356//33VbFiRR09elTXr1/X9evX9euvv6py5cqaMGGCzpw5o+DgYL322mvpUS8AAAAeU06PmP7vf//TokWLVKhQIXtbWFiYPvzwQ7Vo0UInTpzQ6NGjWToKAAAATnF6xPTixYu6f/9+kvb79+/bf/NT7ty5FR0d/e+rAwAAgNtwOpjWqVNHPXr00O7du+1tu3fv1iuvvKKnn35akrRv3z4VKFAg7aoEAADAY8/pYDpz5kxly5ZN5cuXl7e3t7y9vVWhQgVly5ZNM2fOlCQFBARozJgxaV4sAAAAHl9OzzENDg7WqlWrdPjwYf3666+SpKJFi6po0aL2PnXq1Em7CgEAAOAWUr3AfrFixVSsWLG0rAUAAABuLFXB9Ny5c1qyZInOnDmj+Ph4h31jx45Nk8IAAADgXpwOpmvWrFGTJk1UsGBBHT58WKVKldKpU6dkjFG5cuXSo0YAAAC4AacffoqIiNDAgQO1b98++fj4aNGiRTp79qxq1aqlVq1apUeNAAAAcANOB9NDhw6pQ4cOkiRPT0/FxsYqICBAw4cP16hRo9K8QAAAALgHp4Opv7+/fV5pSEiIjh8/bt937dq1tKsMAAAAbsXpOaZVqlTR5s2bVbx4cTVs2FADBgzQvn37tHjxYlWpUiU9agQAAIAbcHrEdOzYsapcubIkadiwYXrmmWc0b9485c+f377AfkqNGDFCFStWVKZMmRQUFKRmzZrpyJEjzpYEAACAx4BTI6YJCQk6d+6cypQpI+n32/pTp05N9cU3bNigXr16qWLFirp//74GDx6sevXq6eDBg/L390/1eQEAAPDocSqYenh4qF69ejp06JCyZMnyry++fPlyh+1Zs2YpKChIO3fuVM2aNf/1+QEAAPDocHqOaalSpXTixAkVKFAgzYu5deuWJClbtmzJ7o+Li1NcXJx9OyoqKs1rAAAAgGs4Pcf03Xff1cCBA7V06VJdvHhRUVFRDq/USkxM1KuvvqqnnnpKpUqVSrbPiBEjFBgYaH+Fhoam+noAAACwFqdHTBs2bChJatKkiWw2m73dGCObzaaEhIRUFdKrVy/t379fmzdv/ss+ERER6t+/v307KiqKcAoAAPCYcDqYrlu3Ls2L6N27t5YuXaqNGzcqT548f9nP29tb3t7eaX59AAAAuJ7TwbRWrVppdnFjjPr06aOvv/5a69evT5d5qwAAAHg0OD3HVJI2bdqkdu3aqVq1ajp//rwkafbs2X97Gz45vXr10pdffqmvvvpKmTJl0qVLl3Tp0iXFxsampiwAAAA8wpwOposWLVJ4eLh8fX21a9cu+1Pyt27d0vvvv+/UuaZMmaJbt26pdu3aCgkJsb/mzZvnbFkAAAB4xKXqqfypU6dq+vTp8vLysrc/9dRT2rVrl1PnMsYk++rUqZOzZQEAAOAR53QwPXLkSLKL3wcGBurmzZtpURMAAADckNPBNDg4WMeOHUvSvnnzZhUsWDBNigIAAID7cTqYduvWTf369dPPP/8sm82mCxcuKDIyUgMHDtQrr7ySHjUCAADADTi9XNT//d//KTExUc8884zu3LmjmjVrytvbWwMHDlSfPn3So0YAAAC4AaeDqc1m05tvvqnXX39dx44dU0xMjEqUKKGAgID0qA8AAABuwulb+V9++aXu3LmjjBkzqkSJEqpUqRKhFAAAAP+a08H0tddeU1BQkF588UX98MMPSkhISI+6AAAA4GacDqYXL17U3LlzZbPZ1Lp1a4WEhKhXr17aunVretQHAAAAN+F0MPX09NRzzz2nyMhIXblyRePGjdOpU6dUp04dFSpUKD1qBAAAgBtw+uGnP/Lz81N4eLhu3Lih06dP69ChQ2lVFwAAANyM0yOmknTnzh1FRkaqYcOGeuKJJzR+/Hg1b95cBw4cSOv6AAAA4CacHjF94YUXtHTpUvn5+al169YaMmSIqlatmh61AQAAwI04HUw9PDw0f/58hYeHy8PDw2Hf/v37VapUqTQrDgAAAO7D6WAaGRnpsB0dHa05c+ZoxowZ2rlzJ8tHAQAAIFVSNcdUkjZu3KiOHTsqJCREH374oZ5++mn99NNPaVkbAAAA3IhTI6aXLl3SrFmzNHPmTEVFRal169aKi4vTN998oxIlSqRXjQAAAHADKR4xbdy4sYoWLapffvlF48eP14ULFzRx4sT0rA0AAABuJMUjpsuWLVPfvn31yiuvqHDhwulZEwAAANxQikdMN2/erOjoaJUvX16VK1fWpEmTdO3atfSsDQAAAG4kxcG0SpUqmj59ui5evKgePXpo7ty5yp07txITE7Vq1SpFR0enZ50AAAB4zDn9VL6/v7+6dOmizZs3a9++fRowYIBGjhypoKAgNWnSJD1qBAAAgBtI9XJRklS0aFGNHj1a586d05w5c9KqJgAAALihfxVMH/Dw8FCzZs20ZMmStDgdAAAA3FCaBFMAAADg3yKYAgAAwBIIpgAAALAEgikAAAAsgWAKAAAASyCYAgAAwBIIpgAAALAEgikAAAAsgWAKAAAASyCYAgAAwBIIpgAAALAEgikAAAAsgWAKAAAASyCYAgAAwBIIpgAAALAEgikAAAAsgWAKAAAASyCYAgAAwBIIpgAAALAEgikAAAAsgWAKAAAASyCYAgAAwBIIpgAAALAEgikAAAAsgWAKAAAASyCYAgAAwBIIpgAAALAEgikAAAAsgWAKAAAASyCYAgAAwBIIpgAAALAElwbTjRs3qnHjxsqdO7dsNpu++eYbV5YDAAAAF3JpML19+7bKli2ryZMnu7IMAAAAWICnKy/eoEEDNWjQwJUlAAAAwCJcGkydFRcXp7i4OPt2VFSUC6sBAABAWnqkHn4aMWKEAgMD7a/Q0FBXlwQAAIA08kgF04iICN26dcv+Onv2rKtLAgAAQBp5pG7le3t7y9vb29VlAAAAIB08UiOmAAAAeHy5dMQ0JiZGx44ds2+fPHlSe/bsUbZs2ZQ3b14XVgYAAICHzaXBdMeOHapTp459u3///pKkjh07atasWS6qCgAAAK7g0mBau3ZtGWNcWQIAAAAsgjm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yBYAoAAABLIJgCAADAEgimAAAAsASCKQAAACzBEsF08uTJyp8/v3x8fFS5cmVt27bN1SUBAADgIXN5MJ03b5769++voUOHateuXSpbtqzCw8N15coVV5cGAACAh8jlwXTs2LHq1q2bOnfurBIlSmjq1Kny8/PTp59+6urSAAAA8BB5uvLi8fHx2rlzpyIiIuxtGTJkUN26dfXjjz8m6R8XF6e4uDj79q1btyRJUVFRaVpXQlxsmp4P+LfS+u94euB7AyviuwM4L62/Nw/OZ4z5x74uDabXrl1TQkKCcuXK5dCeK1cuHT58OEn/ESNGaNiwYUnaQ0ND061GwAoCJ77s6hKARxLfHcB56fW9iY6OVmBg4N/2cWkwdVZERIT69+9v305MTNRvv/2m7Nmzy2azubAy/FlUVJRCQ0N19uxZZc6c2dXlAI8MvjtA6vDdsS5jjKKjo5U7d+5/7OvSYJojRw55eHjo8uXLDu2XL19WcHBwkv7e3t7y9vZ2aMuSJUt6loh/KXPmzPwDAaQC3x0gdfjuWNM/jZQ+4NKHnzJmzKjy5ctrzZo19rbExEStWbNGVatWdWFlAAAAeNhcfiu/f//+6tixoypUqKBKlSpp/Pjxun37tjp37uzq0gAAAPAQuTyYPv/887p69areeustXbp0SU8++aSWL1+e5IEoPFq8vb01dOjQJFMvAPw9vjtA6vDdeTzYTEqe3QcAAADSmcsX2AcAAAAkgikAAAAsgmAKAAAASyCYwim1a9fWq6++mi7n7tSpk5o1a2bfNsaoe/fuypYtm2w2m/bs2ZMu1wWsLCXfufz582v8+PEPpR7gUfHnnynJSc+faUgdgikcJPdFXrhwoXx8fDRmzJh0vfaECRM0a9Ys+/by5cs1a9YsLV26VBcvXlSpUqXS9fpAWuvUqZNsNptsNpu8vLxUoEABvfHGG7p7926aXmf79u3q3r17mp4TcJX169fbvzfJverUqZOi8/z5ZwoeDS5fLgrWNmPGDPXq1UtTp05V586d9d1336X5NRISEmSz2ZL8Vojjx48rJCRE1apVS/NrAg9L/fr19dlnn+nevXvauXOnOnbsKJvNplGjRqXZNXLmzJlm5wJcrVq1arp48WKS9iVLlujll19Wz549U3SelP6mIVgLI6b4S6NHj1afPn00d+5ch194kJiYqDfeeEPZsmVTcHCw3n77bYfjxo4dq9KlS8vf31+hoaHq2bOnYmJi7PtnzZqlLFmyaMmSJSpRooS8vb115swZh9HaTp06qU+fPjpz5oxsNpvy58//EN4xkPa8vb0VHBys0NBQNWvWTHXr1tWqVaskSdevX1ebNm30xBNPyM/PT6VLl9acOXOSnOP+/fvq3bu3AgMDlSNHDg0ZMkR/XOmPW/l4nGTMmFHBwcEOrxs3bmjgwIEaPHiwWrVqpYSEBHXt2lUFChSQr6+vihYtqgkTJjic5893AG/fvq0OHTooICBAISEh6X4XEKlDMEWyBg0apHfeeUdLly5V8+bNHfZ9/vnn8vf3188//6zRo0dr+PDh9h+0kpQhQwZ99NFHOnDggD7//HOtXbtWb7zxhsM57ty5o1GjRmnGjBk6cOCAgoKCHPZPmDBBw4cPV548eXTx4kVt3749/d4s8JDs379fW7duVcaMGSVJd+/eVfny5fX9999r//796t69u9q3b69t27Y5HPf555/L09NT27Zt04QJEzR27FjNmDHDFW8BeOhu3ryppk2bqnbt2nrnnXck/T5AkidPHi1YsEAHDx7UW2+9pcGDB2v+/Pl/eZ7XX39dGzZs0LfffquVK1dq/fr12rVr18N6G0gpA/xBx44dTcaMGY0ks2bNmiT7a9WqZapXr+7QVrFiRTNo0KC/POeCBQtM9uzZ7dufffaZkWT27NmT5NpNmza1b48bN87ky5cvdW8EsICOHTsaDw8P4+/vb7y9vY0kkyFDBrNw4cK/PKZRo0ZmwIAB9u1atWqZ4sWLm8TERHvboEGDTPHixe3b+fLlM+PGjUuX9wC4UkJCgmnQoIEpXry4iYqK+tu+vXr1Mi1atLBv//FnSnR0tMmYMaOZP3++ff/169eNr6+v6devX3qUjlRijimSKFOmjK5du6ahQ4eqUqVKCggISLL/j0JCQnTlyhX79urVqzVixAgdPnxYUVFRun//vu7evas7d+7Iz89P0u+3av58HuBxVKdOHU2ZMkW3b9/WuHHj5OnpqRYtWkj6fX71+++/r/nz5+v8+fOKj49XXFyc/XvyQJUqVWSz2ezbVatW1ZgxY5SQkCAPD4+H+n6Ah2nw4MH68ccftW3bNmXKlMlh3+TJk/Xpp5/qzJkzio2NVXx8vJ588slkz3P8+HHFx8ercuXK9rZs2bKpaNGi6Vk+UoFb+UjiiSee0Pr163X+/HnVr19f0dHRDvu9vLwctm02mxITEyVJp06d0nPPPacyZcpo0aJF2rlzpyZPnixJio+Ptx/j6+vr8IMWeFz5+/srLCxMZcuW1aeffqqff/5ZM2fOlCR98MEHmjBhggYNGqR169Zpz549Cg8Pd/iuAO5q7ty5+vDDDzV37lwVLlw4yb6BAweqa9euWrlypfbs2aPOnTvz3XkMEEyRrHz58mnDhg26dOlSsuH0r+zcuVOJiYkaM2aMqlSpoiJFiujChQvpXC3waMiQIYMGDx6s//3vf4qNjdWWLVvUtGlTtWvXTmXLllXBggX166+/Jjnu559/dtj+6aefVLhwYUZL8djas2ePunbtqpEjRyo8PDzJ/i1btqhatWrq2bOn/vOf/ygsLEzHjx//y/MVKlRIXl5eDt+lGzduJPt9g2sRTPGXQkNDtX79el25ckXh4eGKior6x2PCwsJ07949TZw4USdOnNDs2bM1derUh1At8Gho1aqVPDw8NHnyZBUuXFirVq3S1q1bdejQIfXo0UOXL19OcsyZM2fUv39/HTlyRHPmzNHEiRPVr18/F1QPpL9r166pWbNmql27ttq1a6dLly45vK5evarChQtrx44dWrFihX799VcNGTLkbx+SDQgIUNeuXfX6669r7dq12r9/vzp16qQMGYhBVsMcU/ytPHnyaP369apTp47Cw8MVFxf3t/3Lli2rsWPHatSoUYqIiFDNmjU1YsQIdejQ4SFVDFibp6enevfurdGjR2v37t06ceKEwsPD5efnp+7du6tZs2a6deuWwzEdOnRQbGysKlWqJA8PD/Xr148F9fHY+v7773X69GmdPn1aISEhSfbny5dPR44c0e7du/X888/LZrOpTZs26tmzp5YtW/aX5/3ggw8UExOjxo0bK1OmTBowYECS7xpcz2bMHxbDAwAAAFyEMWwAAABYAsEUAAAAlkAwBQAAgCUQTAEAAGAJBFMAAABYAsEUAAAAlkAwBQAAgCUQTAEAAGAJBFMAAABYAsEUAFLh6tWreuWVV5Q3b155e3srODhY4eHh2rJli6tLA4BHlqerCwCAR1GLFi0UHx+vzz//XAULFtTly5e1Zs0aXb9+3dWlAcAjixFTAHDSzZs3tWnTJo0aNUp16tRRvnz5VKlSJUVERKhJkyb2Pi+99JJy5sypzJkz6+mnn9bevXvt5zh+/LiaNm2qXLlyKSAgQBUrVtTq1asdrvPxxx+rcOHC8vHxUa5cudSyZUv7vri4OPXt21dBQUHy8fFR9erVtX37dvv+9evXy2azac2aNapQoYL8/PxUrVo1HTlyJJ0/HQBIPYIpADgpICBAAQEB+uabbxQXF5dsn1atWunKlStatmyZdu7cqXLlyumZZ57Rb7/9JkmKiYlRw4YNtWbNGu3evVv169dX48aNdebMGUnSjh071LdvXw0fPlxHjhzR8uXLVbNmTfv533jjDS1atEiff/65du3apbCwMIWHh9vP/8Cbb76pMWPGaMeOHfL09FSXLl3S6VMBgDRgAABOW7hwocmaNavx8fEx1apVMxEREWbv3r3GGGM2bdpkMmfObO7evetwTKFChcy0adP+8pwlS5Y0EydONMYYs2jRIpM5c2YTFRWVpF9MTIzx8vIykZGR9rb4+HiTO3duM3r0aGOMMevWrTOSzOrVq+19vv/+eyPJxMbGpv6NA0A6YsQUAFKhRYsWunDhgpYsWaL69etr/fr1KleunGbNmqW9e/cqJiZG2bNnt4+uBgQE6OTJkzp+/Lik30dMBw4cqOLFiytLliwKCAjQoUOH7COmzz77rPLly6eCBQuqffv2ioyM1J07dyT9Pg3g3r17euqpp+z1eHl5qVKlSjp06JBDnWXKlLH/OSQkRJJ05cqVdP1sACC1ePgJAFLJx8dHzz77rJ599lkNGTJEL730koYOHaqePXsqJCRE69evT3JMlixZJEkDBw7UqlWr9OGHHyosLEy+vr5q2bKl4uPjJUmZMmXSrl27tH79eq1cuVJvvfWW3n77bYd5pCnh5eVl/7PNZpMkJSYmpu4NA0A6Y8QUANJIiRIldPv2bZUrV06XLl2Sp6enwsLCHF45cuSQJG3ZskWdOnVS8+bNVbp0aQUHB+vUqVMO5/P09FTdunU1evRo/fLLLzp16pTWrl2rQoUKKWPGjA5LU927d0/bt29XiRIlHuZbBoA0xYgpADjp+vXratWqlbp06aIyZcooU6ZM2rFjh0aPHq2mTZuqbt26qlq1qpo1a6bRo0erSJEiunDhgr7//ns1b95cFSpUUOHChbV48WI1btxYNptNQ4YMcRjJXLp0qU6cOKGaNWsqa9as+uGHH5SYmKiiRYvK399fr7zyil5//XVly5ZNefPm1ejRo3Xnzh117drVhZ8MAPw7BFMAcFJAQIAqV66scePG2ed7hoaGqlu3bho8eLBsNpt++OEHvfnmm+rcubOuXr2q4OBg1axZU7ly5ZIkjR07Vl26dFG1atWUI0cODRo0SFFRUfZrZMmSRYsXL9bbb7+tu3fvqnDhwpozZ45KliwpSRo5cqQSExPVvn17RUdHq0KFClqxYoWyZs3qks8EANKCzRhjXF0EAAAAwBxTAAAAWALBFAAAAJZAMAUAAIAlEEwBAABgCQRTAAAAWALBFAAAAJZAMAUAAIAlEEwBAABgCQRTAAAAWALBFAAAAJZAMAUAAIAl/D8xJgGM75WJZQ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175" y="2286000"/>
            <a:ext cx="8035926" cy="37719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9492536" cy="509756"/>
          </a:xfrm>
        </p:spPr>
        <p:txBody>
          <a:bodyPr>
            <a:noAutofit/>
          </a:bodyPr>
          <a:lstStyle/>
          <a:p>
            <a:pPr marL="0" indent="0">
              <a:buNone/>
            </a:pPr>
            <a:r>
              <a:rPr lang="en-US" dirty="0" smtClean="0"/>
              <a:t>[</a:t>
            </a:r>
            <a:r>
              <a:rPr lang="en-US" dirty="0"/>
              <a:t>Yield Distribution Across </a:t>
            </a:r>
            <a:r>
              <a:rPr lang="en-US" dirty="0" smtClean="0"/>
              <a:t>Seasons]</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216" y="2015234"/>
            <a:ext cx="7297168" cy="466790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smtClean="0"/>
              <a:t>[Average Yield by Crop and Season </a:t>
            </a:r>
            <a:r>
              <a:rPr lang="en-US" dirty="0"/>
              <a:t>]</a:t>
            </a:r>
            <a:endParaRPr lang="en-I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559" y="2065535"/>
            <a:ext cx="7348141" cy="434536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smtClean="0"/>
              <a:t>[Profit Distribution by Season </a:t>
            </a:r>
            <a:r>
              <a:rPr lang="en-US" dirty="0"/>
              <a:t>]</a:t>
            </a: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3800" y="2065535"/>
            <a:ext cx="6629400" cy="440638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977900" y="317540"/>
            <a:ext cx="2981643" cy="830997"/>
          </a:xfrm>
        </p:spPr>
        <p:txBody>
          <a:bodyPr>
            <a:normAutofit/>
          </a:bodyPr>
          <a:lstStyle/>
          <a:p>
            <a:r>
              <a:rPr lang="en-IN" dirty="0" smtClean="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5578782" y="57076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8"/>
          <p:cNvSpPr>
            <a:spLocks noGrp="1"/>
          </p:cNvSpPr>
          <p:nvPr>
            <p:ph type="body" sz="quarter" idx="12"/>
          </p:nvPr>
        </p:nvSpPr>
        <p:spPr>
          <a:xfrm>
            <a:off x="681512" y="1275371"/>
            <a:ext cx="4715987" cy="528029"/>
          </a:xfrm>
        </p:spPr>
        <p:txBody>
          <a:bodyPr>
            <a:normAutofit/>
          </a:bodyPr>
          <a:lstStyle/>
          <a:p>
            <a:pPr marL="0" indent="0">
              <a:buNone/>
            </a:pPr>
            <a:r>
              <a:rPr lang="en-US" dirty="0" smtClean="0"/>
              <a:t>[Water efficiency by Irrigation Method]</a:t>
            </a:r>
            <a:endParaRPr lang="en-US"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00" y="2239899"/>
            <a:ext cx="6451600" cy="40716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1275371"/>
            <a:ext cx="9938624" cy="5196549"/>
          </a:xfrm>
        </p:spPr>
        <p:txBody>
          <a:bodyPr>
            <a:normAutofit/>
          </a:bodyPr>
          <a:lstStyle/>
          <a:p>
            <a:r>
              <a:rPr lang="en-IN" sz="4000" dirty="0"/>
              <a:t>Future </a:t>
            </a:r>
            <a:r>
              <a:rPr lang="en-IN" sz="4000" dirty="0" smtClean="0"/>
              <a:t>scope: -</a:t>
            </a:r>
            <a:r>
              <a:rPr lang="en-IN" sz="4000" dirty="0"/>
              <a:t/>
            </a:r>
            <a:br>
              <a:rPr lang="en-IN" sz="4000" dirty="0"/>
            </a:br>
            <a:endParaRPr lang="en-IN" sz="18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826789" y="2208625"/>
            <a:ext cx="8185236" cy="357000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p:cNvSpPr>
            <a:spLocks noChangeArrowheads="1"/>
          </p:cNvSpPr>
          <p:nvPr/>
        </p:nvSpPr>
        <p:spPr bwMode="auto">
          <a:xfrm>
            <a:off x="558801" y="2274957"/>
            <a:ext cx="95249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Predictive modeling</a:t>
            </a:r>
            <a:r>
              <a:rPr kumimoji="0" lang="en-US" altLang="en-US" sz="1800" b="0" i="0" u="none" strike="noStrike" cap="none" normalizeH="0" baseline="0" dirty="0" smtClean="0">
                <a:ln>
                  <a:noFill/>
                </a:ln>
                <a:solidFill>
                  <a:schemeClr val="tx1"/>
                </a:solidFill>
                <a:effectLst/>
                <a:latin typeface="Arial" panose="020B0604020202020204" pitchFamily="34" charset="0"/>
              </a:rPr>
              <a:t> – Use machine learning to forecast crop yield or performance for upcoming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Real-time data integration</a:t>
            </a:r>
            <a:r>
              <a:rPr kumimoji="0" lang="en-US" altLang="en-US" sz="1800" b="0" i="0" u="none" strike="noStrike" cap="none" normalizeH="0" baseline="0" dirty="0" smtClean="0">
                <a:ln>
                  <a:noFill/>
                </a:ln>
                <a:solidFill>
                  <a:schemeClr val="tx1"/>
                </a:solidFill>
                <a:effectLst/>
                <a:latin typeface="Arial" panose="020B0604020202020204" pitchFamily="34" charset="0"/>
              </a:rPr>
              <a:t> – Connect with live weather/climate APIs for more accurate seasonal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Larger and more diverse datasets</a:t>
            </a:r>
            <a:r>
              <a:rPr kumimoji="0" lang="en-US" altLang="en-US" sz="1800" b="0" i="0" u="none" strike="noStrike" cap="none" normalizeH="0" baseline="0" dirty="0" smtClean="0">
                <a:ln>
                  <a:noFill/>
                </a:ln>
                <a:solidFill>
                  <a:schemeClr val="tx1"/>
                </a:solidFill>
                <a:effectLst/>
                <a:latin typeface="Arial" panose="020B0604020202020204" pitchFamily="34" charset="0"/>
              </a:rPr>
              <a:t> – Include more regions, crops, and years for broader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Interactive dashboard</a:t>
            </a:r>
            <a:r>
              <a:rPr kumimoji="0" lang="en-US" altLang="en-US" sz="1800" b="0" i="0" u="none" strike="noStrike" cap="none" normalizeH="0" baseline="0" dirty="0" smtClean="0">
                <a:ln>
                  <a:noFill/>
                </a:ln>
                <a:solidFill>
                  <a:schemeClr val="tx1"/>
                </a:solidFill>
                <a:effectLst/>
                <a:latin typeface="Arial" panose="020B0604020202020204" pitchFamily="34" charset="0"/>
              </a:rPr>
              <a:t> – Build a dashboard (e.g., using Power BI/Tableau/</a:t>
            </a:r>
            <a:r>
              <a:rPr kumimoji="0" lang="en-US" altLang="en-US" sz="18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1800" b="0" i="0" u="none" strike="noStrike" cap="none" normalizeH="0" baseline="0" dirty="0" smtClean="0">
                <a:ln>
                  <a:noFill/>
                </a:ln>
                <a:solidFill>
                  <a:schemeClr val="tx1"/>
                </a:solidFill>
                <a:effectLst/>
                <a:latin typeface="Arial" panose="020B0604020202020204" pitchFamily="34" charset="0"/>
              </a:rPr>
              <a:t>) for real-time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Recommendation system</a:t>
            </a:r>
            <a:r>
              <a:rPr kumimoji="0" lang="en-US" altLang="en-US" sz="1800" b="0" i="0" u="none" strike="noStrike" cap="none" normalizeH="0" baseline="0" dirty="0" smtClean="0">
                <a:ln>
                  <a:noFill/>
                </a:ln>
                <a:solidFill>
                  <a:schemeClr val="tx1"/>
                </a:solidFill>
                <a:effectLst/>
                <a:latin typeface="Arial" panose="020B0604020202020204" pitchFamily="34" charset="0"/>
              </a:rPr>
              <a:t> – Suggest optimal crops or resource allocation based on predictions.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1798320"/>
            <a:ext cx="9092884" cy="4175760"/>
          </a:xfrm>
        </p:spPr>
        <p:txBody>
          <a:bodyPr>
            <a:normAutofit/>
          </a:bodyPr>
          <a:lstStyle/>
          <a:p>
            <a:r>
              <a:rPr lang="en-IN" sz="4000" dirty="0" smtClean="0"/>
              <a:t>GitHub Link</a:t>
            </a:r>
            <a:br>
              <a:rPr lang="en-IN" sz="4000" dirty="0" smtClean="0"/>
            </a:br>
            <a:r>
              <a:rPr lang="en-IN" sz="2800" dirty="0" smtClean="0"/>
              <a:t>https</a:t>
            </a:r>
            <a:r>
              <a:rPr lang="en-IN" sz="2800" dirty="0"/>
              <a:t>://github.com/rahulK230506/Seasonal-Agriculture-Performance-Analysis.git</a:t>
            </a:r>
            <a:endParaRPr lang="en-IN" sz="2800" dirty="0"/>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3048000" y="2413338"/>
            <a:ext cx="6096000" cy="369332"/>
          </a:xfrm>
          <a:prstGeom prst="rect">
            <a:avLst/>
          </a:prstGeom>
        </p:spPr>
        <p:txBody>
          <a:bodyPr>
            <a:spAutoFit/>
          </a:bodyPr>
          <a:lstStyle/>
          <a:p>
            <a:r>
              <a:rPr lang="en-US" dirty="0" smtClean="0">
                <a:hlinkClick r:id="rId3"/>
              </a:rPr>
              <a: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7519" y="1994545"/>
            <a:ext cx="6239746" cy="447737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64769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327608" y="1762790"/>
            <a:ext cx="8051800" cy="4294153"/>
          </a:xfrm>
        </p:spPr>
        <p:txBody>
          <a:bodyPr>
            <a:normAutofit/>
          </a:bodyPr>
          <a:lstStyle/>
          <a:p>
            <a:r>
              <a:rPr lang="en-US" dirty="0">
                <a:solidFill>
                  <a:schemeClr val="tx1"/>
                </a:solidFill>
              </a:rPr>
              <a:t>Thank you for giving me the opportunity to present my project on Seasonal Agriculture Performance Analysis. Through this project, I got to explore real-world agricultural data and understand how seasonal factors impact farming performance. I'm thankful for the guidance and support throughout this project.</a:t>
            </a:r>
            <a:endParaRPr lang="en-IN" dirty="0">
              <a:solidFill>
                <a:schemeClr val="tx1"/>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626</TotalTime>
  <Words>428</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Descrption :-  This project analyzes a seasonal agriculture dataset to understand how farming performance varies across seasons, regions, and conditions. It covers data cleaning, exploratory analysis, and visualization to uncover seasonal trends in crop yield, resource usage, and economic outcomes. Statistical techniques are used to compare performance across seasons and identify significant patterns or relationships. The analysis is documented in a Jupyter Notebook, using Python libraries like Pandas, Matplotlib, and Seaborn. The project concludes with evidence-based insights and recommendations to support better seasonal agricultural planning.</vt:lpstr>
      <vt:lpstr>WHO ARE THE END USERS?</vt:lpstr>
      <vt:lpstr>Technology Used</vt:lpstr>
      <vt:lpstr>RESULTS Distribution of Crop Yield  </vt:lpstr>
      <vt:lpstr>RESULTS </vt:lpstr>
      <vt:lpstr>RESULTS </vt:lpstr>
      <vt:lpstr>RESULTS </vt:lpstr>
      <vt:lpstr>RESULTS </vt:lpstr>
      <vt:lpstr>Future scope: - </vt:lpstr>
      <vt:lpstr>GitHub Link https://github.com/rahulK230506/Seasonal-Agriculture-Performance-Analysis.git</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105</cp:revision>
  <dcterms:created xsi:type="dcterms:W3CDTF">2021-07-11T13:13:15Z</dcterms:created>
  <dcterms:modified xsi:type="dcterms:W3CDTF">2026-09-09T18:39:35Z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